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
  </p:notesMasterIdLst>
  <p:sldIdLst>
    <p:sldId id="257" r:id="rId2"/>
    <p:sldId id="256" r:id="rId3"/>
  </p:sldIdLst>
  <p:sldSz cx="24299863"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814" autoAdjust="0"/>
    <p:restoredTop sz="94606"/>
  </p:normalViewPr>
  <p:slideViewPr>
    <p:cSldViewPr snapToGrid="0">
      <p:cViewPr>
        <p:scale>
          <a:sx n="38" d="100"/>
          <a:sy n="38" d="100"/>
        </p:scale>
        <p:origin x="1952" y="-493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C7BF1-16E3-344D-8E57-3AC28020E8C1}" type="datetimeFigureOut">
              <a:rPr lang="en-US" smtClean="0"/>
              <a:t>8/19/26</a:t>
            </a:fld>
            <a:endParaRPr lang="en-US"/>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12D6DC-41CA-FD4E-9FB9-D3FA0F0A8094}" type="slidenum">
              <a:rPr lang="en-US" smtClean="0"/>
              <a:t>‹#›</a:t>
            </a:fld>
            <a:endParaRPr lang="en-US"/>
          </a:p>
        </p:txBody>
      </p:sp>
    </p:spTree>
    <p:extLst>
      <p:ext uri="{BB962C8B-B14F-4D97-AF65-F5344CB8AC3E}">
        <p14:creationId xmlns:p14="http://schemas.microsoft.com/office/powerpoint/2010/main" val="256764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12D6DC-41CA-FD4E-9FB9-D3FA0F0A8094}" type="slidenum">
              <a:rPr lang="en-US" smtClean="0"/>
              <a:t>2</a:t>
            </a:fld>
            <a:endParaRPr lang="en-US"/>
          </a:p>
        </p:txBody>
      </p:sp>
    </p:spTree>
    <p:extLst>
      <p:ext uri="{BB962C8B-B14F-4D97-AF65-F5344CB8AC3E}">
        <p14:creationId xmlns:p14="http://schemas.microsoft.com/office/powerpoint/2010/main" val="29495625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822490" y="7070108"/>
            <a:ext cx="20654884" cy="15040222"/>
          </a:xfrm>
        </p:spPr>
        <p:txBody>
          <a:bodyPr anchor="b"/>
          <a:lstStyle>
            <a:lvl1pPr algn="ctr">
              <a:defRPr sz="15945"/>
            </a:lvl1pPr>
          </a:lstStyle>
          <a:p>
            <a:r>
              <a:rPr lang="ko-KR" altLang="en-US"/>
              <a:t>마스터 제목 스타일 편집</a:t>
            </a:r>
            <a:endParaRPr lang="en-US" dirty="0"/>
          </a:p>
        </p:txBody>
      </p:sp>
      <p:sp>
        <p:nvSpPr>
          <p:cNvPr id="3" name="Subtitle 2"/>
          <p:cNvSpPr>
            <a:spLocks noGrp="1"/>
          </p:cNvSpPr>
          <p:nvPr>
            <p:ph type="subTitle" idx="1"/>
          </p:nvPr>
        </p:nvSpPr>
        <p:spPr>
          <a:xfrm>
            <a:off x="3037483" y="22690338"/>
            <a:ext cx="18224897" cy="10430151"/>
          </a:xfrm>
        </p:spPr>
        <p:txBody>
          <a:bodyPr/>
          <a:lstStyle>
            <a:lvl1pPr marL="0" indent="0" algn="ctr">
              <a:buNone/>
              <a:defRPr sz="6378"/>
            </a:lvl1pPr>
            <a:lvl2pPr marL="1215009" indent="0" algn="ctr">
              <a:buNone/>
              <a:defRPr sz="5315"/>
            </a:lvl2pPr>
            <a:lvl3pPr marL="2430018" indent="0" algn="ctr">
              <a:buNone/>
              <a:defRPr sz="4784"/>
            </a:lvl3pPr>
            <a:lvl4pPr marL="3645027" indent="0" algn="ctr">
              <a:buNone/>
              <a:defRPr sz="4252"/>
            </a:lvl4pPr>
            <a:lvl5pPr marL="4860036" indent="0" algn="ctr">
              <a:buNone/>
              <a:defRPr sz="4252"/>
            </a:lvl5pPr>
            <a:lvl6pPr marL="6075045" indent="0" algn="ctr">
              <a:buNone/>
              <a:defRPr sz="4252"/>
            </a:lvl6pPr>
            <a:lvl7pPr marL="7290054" indent="0" algn="ctr">
              <a:buNone/>
              <a:defRPr sz="4252"/>
            </a:lvl7pPr>
            <a:lvl8pPr marL="8505063" indent="0" algn="ctr">
              <a:buNone/>
              <a:defRPr sz="4252"/>
            </a:lvl8pPr>
            <a:lvl9pPr marL="9720072" indent="0" algn="ctr">
              <a:buNone/>
              <a:defRPr sz="4252"/>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C757FCD-09AA-48F0-BB58-339B4A63EED5}" type="slidenum">
              <a:rPr lang="ko-KR" altLang="en-US" smtClean="0"/>
              <a:t>‹#›</a:t>
            </a:fld>
            <a:endParaRPr lang="ko-KR" altLang="en-US"/>
          </a:p>
        </p:txBody>
      </p:sp>
      <p:pic>
        <p:nvPicPr>
          <p:cNvPr id="8" name="그림 7">
            <a:extLst>
              <a:ext uri="{FF2B5EF4-FFF2-40B4-BE49-F238E27FC236}">
                <a16:creationId xmlns:a16="http://schemas.microsoft.com/office/drawing/2014/main" id="{5C3976B7-FA4C-66B4-F7E8-63B2CD437D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00" y="8646"/>
            <a:ext cx="6858000" cy="1714651"/>
          </a:xfrm>
          <a:prstGeom prst="rect">
            <a:avLst/>
          </a:prstGeom>
        </p:spPr>
      </p:pic>
      <p:pic>
        <p:nvPicPr>
          <p:cNvPr id="10" name="그림 9">
            <a:extLst>
              <a:ext uri="{FF2B5EF4-FFF2-40B4-BE49-F238E27FC236}">
                <a16:creationId xmlns:a16="http://schemas.microsoft.com/office/drawing/2014/main" id="{1C260FA9-6B1A-0792-1DE6-2E7EAEC3C7C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585212" y="0"/>
            <a:ext cx="1714651" cy="1714651"/>
          </a:xfrm>
          <a:prstGeom prst="rect">
            <a:avLst/>
          </a:prstGeom>
        </p:spPr>
      </p:pic>
    </p:spTree>
    <p:extLst>
      <p:ext uri="{BB962C8B-B14F-4D97-AF65-F5344CB8AC3E}">
        <p14:creationId xmlns:p14="http://schemas.microsoft.com/office/powerpoint/2010/main" val="1024507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82772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657961" y="10770172"/>
            <a:ext cx="20958632" cy="17970262"/>
          </a:xfrm>
        </p:spPr>
        <p:txBody>
          <a:bodyPr anchor="b"/>
          <a:lstStyle>
            <a:lvl1pPr>
              <a:defRPr sz="15945"/>
            </a:lvl1pPr>
          </a:lstStyle>
          <a:p>
            <a:r>
              <a:rPr lang="ko-KR" altLang="en-US"/>
              <a:t>마스터 제목 스타일 편집</a:t>
            </a:r>
            <a:endParaRPr lang="en-US" dirty="0"/>
          </a:p>
        </p:txBody>
      </p:sp>
      <p:sp>
        <p:nvSpPr>
          <p:cNvPr id="3" name="Text Placeholder 2"/>
          <p:cNvSpPr>
            <a:spLocks noGrp="1"/>
          </p:cNvSpPr>
          <p:nvPr>
            <p:ph type="body" idx="1"/>
          </p:nvPr>
        </p:nvSpPr>
        <p:spPr>
          <a:xfrm>
            <a:off x="1657961" y="28910440"/>
            <a:ext cx="20958632" cy="9450136"/>
          </a:xfrm>
        </p:spPr>
        <p:txBody>
          <a:bodyPr/>
          <a:lstStyle>
            <a:lvl1pPr marL="0" indent="0">
              <a:buNone/>
              <a:defRPr sz="6378">
                <a:solidFill>
                  <a:schemeClr val="tx1">
                    <a:tint val="82000"/>
                  </a:schemeClr>
                </a:solidFill>
              </a:defRPr>
            </a:lvl1pPr>
            <a:lvl2pPr marL="1215009" indent="0">
              <a:buNone/>
              <a:defRPr sz="5315">
                <a:solidFill>
                  <a:schemeClr val="tx1">
                    <a:tint val="82000"/>
                  </a:schemeClr>
                </a:solidFill>
              </a:defRPr>
            </a:lvl2pPr>
            <a:lvl3pPr marL="2430018" indent="0">
              <a:buNone/>
              <a:defRPr sz="4784">
                <a:solidFill>
                  <a:schemeClr val="tx1">
                    <a:tint val="82000"/>
                  </a:schemeClr>
                </a:solidFill>
              </a:defRPr>
            </a:lvl3pPr>
            <a:lvl4pPr marL="3645027" indent="0">
              <a:buNone/>
              <a:defRPr sz="4252">
                <a:solidFill>
                  <a:schemeClr val="tx1">
                    <a:tint val="82000"/>
                  </a:schemeClr>
                </a:solidFill>
              </a:defRPr>
            </a:lvl4pPr>
            <a:lvl5pPr marL="4860036" indent="0">
              <a:buNone/>
              <a:defRPr sz="4252">
                <a:solidFill>
                  <a:schemeClr val="tx1">
                    <a:tint val="82000"/>
                  </a:schemeClr>
                </a:solidFill>
              </a:defRPr>
            </a:lvl5pPr>
            <a:lvl6pPr marL="6075045" indent="0">
              <a:buNone/>
              <a:defRPr sz="4252">
                <a:solidFill>
                  <a:schemeClr val="tx1">
                    <a:tint val="82000"/>
                  </a:schemeClr>
                </a:solidFill>
              </a:defRPr>
            </a:lvl6pPr>
            <a:lvl7pPr marL="7290054" indent="0">
              <a:buNone/>
              <a:defRPr sz="4252">
                <a:solidFill>
                  <a:schemeClr val="tx1">
                    <a:tint val="82000"/>
                  </a:schemeClr>
                </a:solidFill>
              </a:defRPr>
            </a:lvl7pPr>
            <a:lvl8pPr marL="8505063" indent="0">
              <a:buNone/>
              <a:defRPr sz="4252">
                <a:solidFill>
                  <a:schemeClr val="tx1">
                    <a:tint val="82000"/>
                  </a:schemeClr>
                </a:solidFill>
              </a:defRPr>
            </a:lvl8pPr>
            <a:lvl9pPr marL="9720072" indent="0">
              <a:buNone/>
              <a:defRPr sz="4252">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222708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670615" y="11500170"/>
            <a:ext cx="10327442" cy="2741040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2301806" y="11500170"/>
            <a:ext cx="10327442" cy="2741040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403172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673781" y="2300044"/>
            <a:ext cx="20958632" cy="8350126"/>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673784" y="10590160"/>
            <a:ext cx="10279979" cy="5190073"/>
          </a:xfrm>
        </p:spPr>
        <p:txBody>
          <a:bodyPr anchor="b"/>
          <a:lstStyle>
            <a:lvl1pPr marL="0" indent="0">
              <a:buNone/>
              <a:defRPr sz="6378" b="1"/>
            </a:lvl1pPr>
            <a:lvl2pPr marL="1215009" indent="0">
              <a:buNone/>
              <a:defRPr sz="5315" b="1"/>
            </a:lvl2pPr>
            <a:lvl3pPr marL="2430018" indent="0">
              <a:buNone/>
              <a:defRPr sz="4784" b="1"/>
            </a:lvl3pPr>
            <a:lvl4pPr marL="3645027" indent="0">
              <a:buNone/>
              <a:defRPr sz="4252" b="1"/>
            </a:lvl4pPr>
            <a:lvl5pPr marL="4860036" indent="0">
              <a:buNone/>
              <a:defRPr sz="4252" b="1"/>
            </a:lvl5pPr>
            <a:lvl6pPr marL="6075045" indent="0">
              <a:buNone/>
              <a:defRPr sz="4252" b="1"/>
            </a:lvl6pPr>
            <a:lvl7pPr marL="7290054" indent="0">
              <a:buNone/>
              <a:defRPr sz="4252" b="1"/>
            </a:lvl7pPr>
            <a:lvl8pPr marL="8505063" indent="0">
              <a:buNone/>
              <a:defRPr sz="4252" b="1"/>
            </a:lvl8pPr>
            <a:lvl9pPr marL="9720072" indent="0">
              <a:buNone/>
              <a:defRPr sz="4252"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673784" y="15780233"/>
            <a:ext cx="10279979" cy="2321034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2301807" y="10590160"/>
            <a:ext cx="10330607" cy="5190073"/>
          </a:xfrm>
        </p:spPr>
        <p:txBody>
          <a:bodyPr anchor="b"/>
          <a:lstStyle>
            <a:lvl1pPr marL="0" indent="0">
              <a:buNone/>
              <a:defRPr sz="6378" b="1"/>
            </a:lvl1pPr>
            <a:lvl2pPr marL="1215009" indent="0">
              <a:buNone/>
              <a:defRPr sz="5315" b="1"/>
            </a:lvl2pPr>
            <a:lvl3pPr marL="2430018" indent="0">
              <a:buNone/>
              <a:defRPr sz="4784" b="1"/>
            </a:lvl3pPr>
            <a:lvl4pPr marL="3645027" indent="0">
              <a:buNone/>
              <a:defRPr sz="4252" b="1"/>
            </a:lvl4pPr>
            <a:lvl5pPr marL="4860036" indent="0">
              <a:buNone/>
              <a:defRPr sz="4252" b="1"/>
            </a:lvl5pPr>
            <a:lvl6pPr marL="6075045" indent="0">
              <a:buNone/>
              <a:defRPr sz="4252" b="1"/>
            </a:lvl6pPr>
            <a:lvl7pPr marL="7290054" indent="0">
              <a:buNone/>
              <a:defRPr sz="4252" b="1"/>
            </a:lvl7pPr>
            <a:lvl8pPr marL="8505063" indent="0">
              <a:buNone/>
              <a:defRPr sz="4252" b="1"/>
            </a:lvl8pPr>
            <a:lvl9pPr marL="9720072" indent="0">
              <a:buNone/>
              <a:defRPr sz="4252"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2301807" y="15780233"/>
            <a:ext cx="10330607" cy="2321034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24591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353321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124859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673781" y="2880042"/>
            <a:ext cx="7837338" cy="10080149"/>
          </a:xfrm>
        </p:spPr>
        <p:txBody>
          <a:bodyPr anchor="b"/>
          <a:lstStyle>
            <a:lvl1pPr>
              <a:defRPr sz="8504"/>
            </a:lvl1pPr>
          </a:lstStyle>
          <a:p>
            <a:r>
              <a:rPr lang="ko-KR" altLang="en-US"/>
              <a:t>마스터 제목 스타일 편집</a:t>
            </a:r>
            <a:endParaRPr lang="en-US" dirty="0"/>
          </a:p>
        </p:txBody>
      </p:sp>
      <p:sp>
        <p:nvSpPr>
          <p:cNvPr id="3" name="Content Placeholder 2"/>
          <p:cNvSpPr>
            <a:spLocks noGrp="1"/>
          </p:cNvSpPr>
          <p:nvPr>
            <p:ph idx="1"/>
          </p:nvPr>
        </p:nvSpPr>
        <p:spPr>
          <a:xfrm>
            <a:off x="10330607" y="6220102"/>
            <a:ext cx="12301806" cy="30700453"/>
          </a:xfrm>
        </p:spPr>
        <p:txBody>
          <a:bodyPr/>
          <a:lstStyle>
            <a:lvl1pPr>
              <a:defRPr sz="8504"/>
            </a:lvl1pPr>
            <a:lvl2pPr>
              <a:defRPr sz="7441"/>
            </a:lvl2pPr>
            <a:lvl3pPr>
              <a:defRPr sz="6378"/>
            </a:lvl3pPr>
            <a:lvl4pPr>
              <a:defRPr sz="5315"/>
            </a:lvl4pPr>
            <a:lvl5pPr>
              <a:defRPr sz="5315"/>
            </a:lvl5pPr>
            <a:lvl6pPr>
              <a:defRPr sz="5315"/>
            </a:lvl6pPr>
            <a:lvl7pPr>
              <a:defRPr sz="5315"/>
            </a:lvl7pPr>
            <a:lvl8pPr>
              <a:defRPr sz="5315"/>
            </a:lvl8pPr>
            <a:lvl9pPr>
              <a:defRPr sz="5315"/>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673781" y="12960191"/>
            <a:ext cx="7837338" cy="24010358"/>
          </a:xfrm>
        </p:spPr>
        <p:txBody>
          <a:bodyPr/>
          <a:lstStyle>
            <a:lvl1pPr marL="0" indent="0">
              <a:buNone/>
              <a:defRPr sz="4252"/>
            </a:lvl1pPr>
            <a:lvl2pPr marL="1215009" indent="0">
              <a:buNone/>
              <a:defRPr sz="3721"/>
            </a:lvl2pPr>
            <a:lvl3pPr marL="2430018" indent="0">
              <a:buNone/>
              <a:defRPr sz="3189"/>
            </a:lvl3pPr>
            <a:lvl4pPr marL="3645027" indent="0">
              <a:buNone/>
              <a:defRPr sz="2658"/>
            </a:lvl4pPr>
            <a:lvl5pPr marL="4860036" indent="0">
              <a:buNone/>
              <a:defRPr sz="2658"/>
            </a:lvl5pPr>
            <a:lvl6pPr marL="6075045" indent="0">
              <a:buNone/>
              <a:defRPr sz="2658"/>
            </a:lvl6pPr>
            <a:lvl7pPr marL="7290054" indent="0">
              <a:buNone/>
              <a:defRPr sz="2658"/>
            </a:lvl7pPr>
            <a:lvl8pPr marL="8505063" indent="0">
              <a:buNone/>
              <a:defRPr sz="2658"/>
            </a:lvl8pPr>
            <a:lvl9pPr marL="9720072" indent="0">
              <a:buNone/>
              <a:defRPr sz="2658"/>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247373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673781" y="2880042"/>
            <a:ext cx="7837338" cy="10080149"/>
          </a:xfrm>
        </p:spPr>
        <p:txBody>
          <a:bodyPr anchor="b"/>
          <a:lstStyle>
            <a:lvl1pPr>
              <a:defRPr sz="8504"/>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0330607" y="6220102"/>
            <a:ext cx="12301806" cy="30700453"/>
          </a:xfrm>
        </p:spPr>
        <p:txBody>
          <a:bodyPr anchor="t"/>
          <a:lstStyle>
            <a:lvl1pPr marL="0" indent="0">
              <a:buNone/>
              <a:defRPr sz="8504"/>
            </a:lvl1pPr>
            <a:lvl2pPr marL="1215009" indent="0">
              <a:buNone/>
              <a:defRPr sz="7441"/>
            </a:lvl2pPr>
            <a:lvl3pPr marL="2430018" indent="0">
              <a:buNone/>
              <a:defRPr sz="6378"/>
            </a:lvl3pPr>
            <a:lvl4pPr marL="3645027" indent="0">
              <a:buNone/>
              <a:defRPr sz="5315"/>
            </a:lvl4pPr>
            <a:lvl5pPr marL="4860036" indent="0">
              <a:buNone/>
              <a:defRPr sz="5315"/>
            </a:lvl5pPr>
            <a:lvl6pPr marL="6075045" indent="0">
              <a:buNone/>
              <a:defRPr sz="5315"/>
            </a:lvl6pPr>
            <a:lvl7pPr marL="7290054" indent="0">
              <a:buNone/>
              <a:defRPr sz="5315"/>
            </a:lvl7pPr>
            <a:lvl8pPr marL="8505063" indent="0">
              <a:buNone/>
              <a:defRPr sz="5315"/>
            </a:lvl8pPr>
            <a:lvl9pPr marL="9720072" indent="0">
              <a:buNone/>
              <a:defRPr sz="5315"/>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673781" y="12960191"/>
            <a:ext cx="7837338" cy="24010358"/>
          </a:xfrm>
        </p:spPr>
        <p:txBody>
          <a:bodyPr/>
          <a:lstStyle>
            <a:lvl1pPr marL="0" indent="0">
              <a:buNone/>
              <a:defRPr sz="4252"/>
            </a:lvl1pPr>
            <a:lvl2pPr marL="1215009" indent="0">
              <a:buNone/>
              <a:defRPr sz="3721"/>
            </a:lvl2pPr>
            <a:lvl3pPr marL="2430018" indent="0">
              <a:buNone/>
              <a:defRPr sz="3189"/>
            </a:lvl3pPr>
            <a:lvl4pPr marL="3645027" indent="0">
              <a:buNone/>
              <a:defRPr sz="2658"/>
            </a:lvl4pPr>
            <a:lvl5pPr marL="4860036" indent="0">
              <a:buNone/>
              <a:defRPr sz="2658"/>
            </a:lvl5pPr>
            <a:lvl6pPr marL="6075045" indent="0">
              <a:buNone/>
              <a:defRPr sz="2658"/>
            </a:lvl6pPr>
            <a:lvl7pPr marL="7290054" indent="0">
              <a:buNone/>
              <a:defRPr sz="2658"/>
            </a:lvl7pPr>
            <a:lvl8pPr marL="8505063" indent="0">
              <a:buNone/>
              <a:defRPr sz="2658"/>
            </a:lvl8pPr>
            <a:lvl9pPr marL="9720072" indent="0">
              <a:buNone/>
              <a:defRPr sz="2658"/>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3527404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191601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389591" y="2300034"/>
            <a:ext cx="5239658" cy="366105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670617" y="2300034"/>
            <a:ext cx="15415226" cy="36610544"/>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151546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0616" y="2300044"/>
            <a:ext cx="20958632" cy="8350126"/>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670616" y="11500170"/>
            <a:ext cx="20958632" cy="2741040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670616" y="40040601"/>
            <a:ext cx="5467469" cy="2300034"/>
          </a:xfrm>
          <a:prstGeom prst="rect">
            <a:avLst/>
          </a:prstGeom>
        </p:spPr>
        <p:txBody>
          <a:bodyPr vert="horz" lIns="91440" tIns="45720" rIns="91440" bIns="45720" rtlCol="0" anchor="ctr"/>
          <a:lstStyle>
            <a:lvl1pPr algn="l">
              <a:defRPr sz="3189">
                <a:solidFill>
                  <a:schemeClr val="tx1">
                    <a:tint val="82000"/>
                  </a:schemeClr>
                </a:solidFill>
              </a:defRPr>
            </a:lvl1pPr>
          </a:lstStyle>
          <a:p>
            <a:fld id="{D6CD8D15-D6D2-46C3-8867-6B582FDB92E4}" type="datetimeFigureOut">
              <a:rPr lang="ko-KR" altLang="en-US" smtClean="0"/>
              <a:t>2026. 8. 19.</a:t>
            </a:fld>
            <a:endParaRPr lang="ko-KR" altLang="en-US"/>
          </a:p>
        </p:txBody>
      </p:sp>
      <p:sp>
        <p:nvSpPr>
          <p:cNvPr id="5" name="Footer Placeholder 4"/>
          <p:cNvSpPr>
            <a:spLocks noGrp="1"/>
          </p:cNvSpPr>
          <p:nvPr>
            <p:ph type="ftr" sz="quarter" idx="3"/>
          </p:nvPr>
        </p:nvSpPr>
        <p:spPr>
          <a:xfrm>
            <a:off x="8049330" y="40040601"/>
            <a:ext cx="8201204" cy="2300034"/>
          </a:xfrm>
          <a:prstGeom prst="rect">
            <a:avLst/>
          </a:prstGeom>
        </p:spPr>
        <p:txBody>
          <a:bodyPr vert="horz" lIns="91440" tIns="45720" rIns="91440" bIns="45720" rtlCol="0" anchor="ctr"/>
          <a:lstStyle>
            <a:lvl1pPr algn="ctr">
              <a:defRPr sz="3189">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17161778" y="40040601"/>
            <a:ext cx="5467469" cy="2300034"/>
          </a:xfrm>
          <a:prstGeom prst="rect">
            <a:avLst/>
          </a:prstGeom>
        </p:spPr>
        <p:txBody>
          <a:bodyPr vert="horz" lIns="91440" tIns="45720" rIns="91440" bIns="45720" rtlCol="0" anchor="ctr"/>
          <a:lstStyle>
            <a:lvl1pPr algn="r">
              <a:defRPr sz="3189">
                <a:solidFill>
                  <a:schemeClr val="tx1">
                    <a:tint val="82000"/>
                  </a:schemeClr>
                </a:solidFill>
              </a:defRPr>
            </a:lvl1pPr>
          </a:lstStyle>
          <a:p>
            <a:fld id="{4C757FCD-09AA-48F0-BB58-339B4A63EED5}" type="slidenum">
              <a:rPr lang="ko-KR" altLang="en-US" smtClean="0"/>
              <a:t>‹#›</a:t>
            </a:fld>
            <a:endParaRPr lang="ko-KR" altLang="en-US"/>
          </a:p>
        </p:txBody>
      </p:sp>
    </p:spTree>
    <p:extLst>
      <p:ext uri="{BB962C8B-B14F-4D97-AF65-F5344CB8AC3E}">
        <p14:creationId xmlns:p14="http://schemas.microsoft.com/office/powerpoint/2010/main" val="2044610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430018" rtl="0" eaLnBrk="1" latinLnBrk="1" hangingPunct="1">
        <a:lnSpc>
          <a:spcPct val="90000"/>
        </a:lnSpc>
        <a:spcBef>
          <a:spcPct val="0"/>
        </a:spcBef>
        <a:buNone/>
        <a:defRPr sz="11693" kern="1200">
          <a:solidFill>
            <a:schemeClr val="tx1"/>
          </a:solidFill>
          <a:latin typeface="+mj-lt"/>
          <a:ea typeface="+mj-ea"/>
          <a:cs typeface="+mj-cs"/>
        </a:defRPr>
      </a:lvl1pPr>
    </p:titleStyle>
    <p:bodyStyle>
      <a:lvl1pPr marL="607505" indent="-607505" algn="l" defTabSz="2430018" rtl="0" eaLnBrk="1" latinLnBrk="1" hangingPunct="1">
        <a:lnSpc>
          <a:spcPct val="90000"/>
        </a:lnSpc>
        <a:spcBef>
          <a:spcPts val="2658"/>
        </a:spcBef>
        <a:buFont typeface="Arial" panose="020B0604020202020204" pitchFamily="34" charset="0"/>
        <a:buChar char="•"/>
        <a:defRPr sz="7441" kern="1200">
          <a:solidFill>
            <a:schemeClr val="tx1"/>
          </a:solidFill>
          <a:latin typeface="+mn-lt"/>
          <a:ea typeface="+mn-ea"/>
          <a:cs typeface="+mn-cs"/>
        </a:defRPr>
      </a:lvl1pPr>
      <a:lvl2pPr marL="1822514" indent="-607505" algn="l" defTabSz="2430018" rtl="0" eaLnBrk="1" latinLnBrk="1" hangingPunct="1">
        <a:lnSpc>
          <a:spcPct val="90000"/>
        </a:lnSpc>
        <a:spcBef>
          <a:spcPts val="1329"/>
        </a:spcBef>
        <a:buFont typeface="Arial" panose="020B0604020202020204" pitchFamily="34" charset="0"/>
        <a:buChar char="•"/>
        <a:defRPr sz="6378" kern="1200">
          <a:solidFill>
            <a:schemeClr val="tx1"/>
          </a:solidFill>
          <a:latin typeface="+mn-lt"/>
          <a:ea typeface="+mn-ea"/>
          <a:cs typeface="+mn-cs"/>
        </a:defRPr>
      </a:lvl2pPr>
      <a:lvl3pPr marL="3037523" indent="-607505" algn="l" defTabSz="2430018" rtl="0" eaLnBrk="1" latinLnBrk="1" hangingPunct="1">
        <a:lnSpc>
          <a:spcPct val="90000"/>
        </a:lnSpc>
        <a:spcBef>
          <a:spcPts val="1329"/>
        </a:spcBef>
        <a:buFont typeface="Arial" panose="020B0604020202020204" pitchFamily="34" charset="0"/>
        <a:buChar char="•"/>
        <a:defRPr sz="5315" kern="1200">
          <a:solidFill>
            <a:schemeClr val="tx1"/>
          </a:solidFill>
          <a:latin typeface="+mn-lt"/>
          <a:ea typeface="+mn-ea"/>
          <a:cs typeface="+mn-cs"/>
        </a:defRPr>
      </a:lvl3pPr>
      <a:lvl4pPr marL="4252532"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4pPr>
      <a:lvl5pPr marL="5467541"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5pPr>
      <a:lvl6pPr marL="6682550"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6pPr>
      <a:lvl7pPr marL="7897559"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7pPr>
      <a:lvl8pPr marL="9112568"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8pPr>
      <a:lvl9pPr marL="10327577" indent="-607505" algn="l" defTabSz="2430018" rtl="0" eaLnBrk="1" latinLnBrk="1" hangingPunct="1">
        <a:lnSpc>
          <a:spcPct val="90000"/>
        </a:lnSpc>
        <a:spcBef>
          <a:spcPts val="1329"/>
        </a:spcBef>
        <a:buFont typeface="Arial" panose="020B0604020202020204" pitchFamily="34" charset="0"/>
        <a:buChar char="•"/>
        <a:defRPr sz="4784" kern="1200">
          <a:solidFill>
            <a:schemeClr val="tx1"/>
          </a:solidFill>
          <a:latin typeface="+mn-lt"/>
          <a:ea typeface="+mn-ea"/>
          <a:cs typeface="+mn-cs"/>
        </a:defRPr>
      </a:lvl9pPr>
    </p:bodyStyle>
    <p:otherStyle>
      <a:defPPr>
        <a:defRPr lang="en-US"/>
      </a:defPPr>
      <a:lvl1pPr marL="0" algn="l" defTabSz="2430018" rtl="0" eaLnBrk="1" latinLnBrk="1" hangingPunct="1">
        <a:defRPr sz="4784" kern="1200">
          <a:solidFill>
            <a:schemeClr val="tx1"/>
          </a:solidFill>
          <a:latin typeface="+mn-lt"/>
          <a:ea typeface="+mn-ea"/>
          <a:cs typeface="+mn-cs"/>
        </a:defRPr>
      </a:lvl1pPr>
      <a:lvl2pPr marL="1215009" algn="l" defTabSz="2430018" rtl="0" eaLnBrk="1" latinLnBrk="1" hangingPunct="1">
        <a:defRPr sz="4784" kern="1200">
          <a:solidFill>
            <a:schemeClr val="tx1"/>
          </a:solidFill>
          <a:latin typeface="+mn-lt"/>
          <a:ea typeface="+mn-ea"/>
          <a:cs typeface="+mn-cs"/>
        </a:defRPr>
      </a:lvl2pPr>
      <a:lvl3pPr marL="2430018" algn="l" defTabSz="2430018" rtl="0" eaLnBrk="1" latinLnBrk="1" hangingPunct="1">
        <a:defRPr sz="4784" kern="1200">
          <a:solidFill>
            <a:schemeClr val="tx1"/>
          </a:solidFill>
          <a:latin typeface="+mn-lt"/>
          <a:ea typeface="+mn-ea"/>
          <a:cs typeface="+mn-cs"/>
        </a:defRPr>
      </a:lvl3pPr>
      <a:lvl4pPr marL="3645027" algn="l" defTabSz="2430018" rtl="0" eaLnBrk="1" latinLnBrk="1" hangingPunct="1">
        <a:defRPr sz="4784" kern="1200">
          <a:solidFill>
            <a:schemeClr val="tx1"/>
          </a:solidFill>
          <a:latin typeface="+mn-lt"/>
          <a:ea typeface="+mn-ea"/>
          <a:cs typeface="+mn-cs"/>
        </a:defRPr>
      </a:lvl4pPr>
      <a:lvl5pPr marL="4860036" algn="l" defTabSz="2430018" rtl="0" eaLnBrk="1" latinLnBrk="1" hangingPunct="1">
        <a:defRPr sz="4784" kern="1200">
          <a:solidFill>
            <a:schemeClr val="tx1"/>
          </a:solidFill>
          <a:latin typeface="+mn-lt"/>
          <a:ea typeface="+mn-ea"/>
          <a:cs typeface="+mn-cs"/>
        </a:defRPr>
      </a:lvl5pPr>
      <a:lvl6pPr marL="6075045" algn="l" defTabSz="2430018" rtl="0" eaLnBrk="1" latinLnBrk="1" hangingPunct="1">
        <a:defRPr sz="4784" kern="1200">
          <a:solidFill>
            <a:schemeClr val="tx1"/>
          </a:solidFill>
          <a:latin typeface="+mn-lt"/>
          <a:ea typeface="+mn-ea"/>
          <a:cs typeface="+mn-cs"/>
        </a:defRPr>
      </a:lvl6pPr>
      <a:lvl7pPr marL="7290054" algn="l" defTabSz="2430018" rtl="0" eaLnBrk="1" latinLnBrk="1" hangingPunct="1">
        <a:defRPr sz="4784" kern="1200">
          <a:solidFill>
            <a:schemeClr val="tx1"/>
          </a:solidFill>
          <a:latin typeface="+mn-lt"/>
          <a:ea typeface="+mn-ea"/>
          <a:cs typeface="+mn-cs"/>
        </a:defRPr>
      </a:lvl7pPr>
      <a:lvl8pPr marL="8505063" algn="l" defTabSz="2430018" rtl="0" eaLnBrk="1" latinLnBrk="1" hangingPunct="1">
        <a:defRPr sz="4784" kern="1200">
          <a:solidFill>
            <a:schemeClr val="tx1"/>
          </a:solidFill>
          <a:latin typeface="+mn-lt"/>
          <a:ea typeface="+mn-ea"/>
          <a:cs typeface="+mn-cs"/>
        </a:defRPr>
      </a:lvl8pPr>
      <a:lvl9pPr marL="9720072" algn="l" defTabSz="2430018" rtl="0" eaLnBrk="1" latinLnBrk="1" hangingPunct="1">
        <a:defRPr sz="47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1D21DD-C133-429E-A92B-8F0B388C89D0}"/>
              </a:ext>
            </a:extLst>
          </p:cNvPr>
          <p:cNvSpPr txBox="1"/>
          <p:nvPr/>
        </p:nvSpPr>
        <p:spPr>
          <a:xfrm>
            <a:off x="2072640" y="11521440"/>
            <a:ext cx="182880" cy="369332"/>
          </a:xfrm>
          <a:prstGeom prst="rect">
            <a:avLst/>
          </a:prstGeom>
          <a:noFill/>
        </p:spPr>
        <p:txBody>
          <a:bodyPr wrap="square" rtlCol="0">
            <a:spAutoFit/>
          </a:bodyPr>
          <a:lstStyle/>
          <a:p>
            <a:endParaRPr lang="ko-KR" altLang="en-US" dirty="0"/>
          </a:p>
        </p:txBody>
      </p:sp>
      <p:sp>
        <p:nvSpPr>
          <p:cNvPr id="6" name="직사각형 5">
            <a:extLst>
              <a:ext uri="{FF2B5EF4-FFF2-40B4-BE49-F238E27FC236}">
                <a16:creationId xmlns:a16="http://schemas.microsoft.com/office/drawing/2014/main" id="{F9F937F0-1110-406C-ADF2-18E81D290A43}"/>
              </a:ext>
            </a:extLst>
          </p:cNvPr>
          <p:cNvSpPr/>
          <p:nvPr/>
        </p:nvSpPr>
        <p:spPr>
          <a:xfrm>
            <a:off x="0" y="5544916"/>
            <a:ext cx="24299863" cy="619721"/>
          </a:xfrm>
          <a:prstGeom prst="rect">
            <a:avLst/>
          </a:prstGeom>
        </p:spPr>
        <p:txBody>
          <a:bodyPr wrap="square" lIns="100584" tIns="50292" rIns="100584" bIns="50292">
            <a:spAutoFit/>
          </a:bodyPr>
          <a:lstStyle/>
          <a:p>
            <a:pPr algn="ctr" defTabSz="4299966">
              <a:lnSpc>
                <a:spcPct val="115000"/>
              </a:lnSpc>
            </a:pPr>
            <a:r>
              <a:rPr lang="en-US" altLang="ko-KR" sz="3200" b="1" i="1" kern="100" dirty="0">
                <a:solidFill>
                  <a:prstClr val="black"/>
                </a:solidFill>
                <a:latin typeface="Arial" panose="020B0604020202020204" pitchFamily="34" charset="0"/>
                <a:cs typeface="Arial" panose="020B0604020202020204" pitchFamily="34" charset="0"/>
              </a:rPr>
              <a:t>Affiliations of author(s)</a:t>
            </a:r>
          </a:p>
        </p:txBody>
      </p:sp>
      <p:sp>
        <p:nvSpPr>
          <p:cNvPr id="7" name="직사각형 6">
            <a:extLst>
              <a:ext uri="{FF2B5EF4-FFF2-40B4-BE49-F238E27FC236}">
                <a16:creationId xmlns:a16="http://schemas.microsoft.com/office/drawing/2014/main" id="{8C2D376E-A314-4B27-B0E5-296C7D8A19F5}"/>
              </a:ext>
            </a:extLst>
          </p:cNvPr>
          <p:cNvSpPr/>
          <p:nvPr/>
        </p:nvSpPr>
        <p:spPr>
          <a:xfrm>
            <a:off x="3209838" y="1435913"/>
            <a:ext cx="17911235" cy="1024896"/>
          </a:xfrm>
          <a:prstGeom prst="rect">
            <a:avLst/>
          </a:prstGeom>
        </p:spPr>
        <p:txBody>
          <a:bodyPr wrap="square" lIns="100584" tIns="50292" rIns="100584" bIns="50292">
            <a:spAutoFit/>
          </a:bodyPr>
          <a:lstStyle/>
          <a:p>
            <a:pPr algn="ctr" defTabSz="4299966" latinLnBrk="1">
              <a:spcAft>
                <a:spcPts val="1100"/>
              </a:spcAft>
            </a:pPr>
            <a:r>
              <a:rPr lang="en-US" altLang="ko-KR" sz="6000" b="1" kern="0"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Title</a:t>
            </a:r>
          </a:p>
        </p:txBody>
      </p:sp>
      <p:sp>
        <p:nvSpPr>
          <p:cNvPr id="8" name="직사각형 7">
            <a:extLst>
              <a:ext uri="{FF2B5EF4-FFF2-40B4-BE49-F238E27FC236}">
                <a16:creationId xmlns:a16="http://schemas.microsoft.com/office/drawing/2014/main" id="{3099DBEA-13D9-4AA8-B560-C222DAE11459}"/>
              </a:ext>
            </a:extLst>
          </p:cNvPr>
          <p:cNvSpPr/>
          <p:nvPr/>
        </p:nvSpPr>
        <p:spPr>
          <a:xfrm>
            <a:off x="0" y="3960740"/>
            <a:ext cx="24299863" cy="749244"/>
          </a:xfrm>
          <a:prstGeom prst="rect">
            <a:avLst/>
          </a:prstGeom>
        </p:spPr>
        <p:txBody>
          <a:bodyPr wrap="square" lIns="100584" tIns="50292" rIns="100584" bIns="50292">
            <a:spAutoFit/>
          </a:bodyPr>
          <a:lstStyle/>
          <a:p>
            <a:pPr algn="ctr" defTabSz="4299966" latinLnBrk="1">
              <a:lnSpc>
                <a:spcPct val="115000"/>
              </a:lnSpc>
              <a:spcAft>
                <a:spcPts val="1100"/>
              </a:spcAft>
            </a:pPr>
            <a:r>
              <a:rPr lang="en-US" altLang="ko-KR" sz="4000" b="1" kern="0" dirty="0">
                <a:solidFill>
                  <a:prstClr val="black"/>
                </a:solidFill>
                <a:latin typeface="Arial" panose="020B0604020202020204" pitchFamily="34" charset="0"/>
                <a:cs typeface="Arial" panose="020B0604020202020204" pitchFamily="34" charset="0"/>
              </a:rPr>
              <a:t>Author(s)</a:t>
            </a:r>
            <a:endParaRPr lang="en-US" altLang="ko-KR" sz="4000" b="1" kern="0" baseline="30000" dirty="0">
              <a:solidFill>
                <a:prstClr val="black"/>
              </a:solidFill>
              <a:latin typeface="Arial" panose="020B0604020202020204" pitchFamily="34" charset="0"/>
              <a:cs typeface="Arial" panose="020B0604020202020204" pitchFamily="34" charset="0"/>
            </a:endParaRPr>
          </a:p>
        </p:txBody>
      </p:sp>
      <p:sp>
        <p:nvSpPr>
          <p:cNvPr id="9" name="모서리가 둥근 직사각형 34">
            <a:extLst>
              <a:ext uri="{FF2B5EF4-FFF2-40B4-BE49-F238E27FC236}">
                <a16:creationId xmlns:a16="http://schemas.microsoft.com/office/drawing/2014/main" id="{BD891AEB-8FFC-4F30-B6CF-A7D16EAC1394}"/>
              </a:ext>
            </a:extLst>
          </p:cNvPr>
          <p:cNvSpPr/>
          <p:nvPr/>
        </p:nvSpPr>
        <p:spPr bwMode="auto">
          <a:xfrm>
            <a:off x="327438" y="6999569"/>
            <a:ext cx="23644985" cy="35688473"/>
          </a:xfrm>
          <a:prstGeom prst="roundRect">
            <a:avLst>
              <a:gd name="adj" fmla="val 9267"/>
            </a:avLst>
          </a:prstGeom>
          <a:solidFill>
            <a:sysClr val="window" lastClr="FFFFFF">
              <a:lumMod val="95000"/>
            </a:sys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lIns="100584" tIns="50292" rIns="100584" bIns="50292"/>
          <a:lstStyle/>
          <a:p>
            <a:pPr marL="0" marR="0" lvl="0" indent="0" defTabSz="4526280" eaLnBrk="1" fontAlgn="auto" latinLnBrk="1" hangingPunct="1">
              <a:lnSpc>
                <a:spcPct val="100000"/>
              </a:lnSpc>
              <a:spcBef>
                <a:spcPts val="0"/>
              </a:spcBef>
              <a:spcAft>
                <a:spcPts val="0"/>
              </a:spcAft>
              <a:buClrTx/>
              <a:buSzTx/>
              <a:buFontTx/>
              <a:buNone/>
              <a:tabLst/>
              <a:defRPr/>
            </a:pPr>
            <a:endParaRPr kumimoji="0" lang="ko-KR" altLang="en-US" sz="89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686D377-40F6-44C4-BA4A-FC71E08F3FB3}"/>
              </a:ext>
            </a:extLst>
          </p:cNvPr>
          <p:cNvSpPr txBox="1"/>
          <p:nvPr/>
        </p:nvSpPr>
        <p:spPr>
          <a:xfrm>
            <a:off x="1013861" y="11706106"/>
            <a:ext cx="22775682" cy="15050274"/>
          </a:xfrm>
          <a:prstGeom prst="rect">
            <a:avLst/>
          </a:prstGeom>
          <a:noFill/>
        </p:spPr>
        <p:txBody>
          <a:bodyPr wrap="square" lIns="91440" tIns="45720" rIns="91440" bIns="45720" anchor="t">
            <a:spAutoFit/>
          </a:bodyPr>
          <a:lstStyle/>
          <a:p>
            <a:pPr marL="0" indent="0">
              <a:spcBef>
                <a:spcPts val="0"/>
              </a:spcBef>
              <a:spcAft>
                <a:spcPts val="600"/>
              </a:spcAft>
              <a:buNone/>
            </a:pPr>
            <a:r>
              <a:rPr lang="en-US" sz="4800" b="1" dirty="0">
                <a:latin typeface="+mj-lt"/>
              </a:rPr>
              <a:t>9:16 ratio of Digital Poster Portrait Template</a:t>
            </a:r>
            <a:br>
              <a:rPr lang="en-US" sz="4800" dirty="0">
                <a:latin typeface="+mj-lt"/>
              </a:rPr>
            </a:br>
            <a:br>
              <a:rPr lang="en-US" sz="4800" dirty="0">
                <a:latin typeface="+mj-lt"/>
              </a:rPr>
            </a:br>
            <a:r>
              <a:rPr lang="en-US" sz="4800" dirty="0">
                <a:latin typeface="+mj-lt"/>
              </a:rPr>
              <a:t>This template has been designed to show clearly within the digital poster screen and app that will be used for the Conference.</a:t>
            </a:r>
          </a:p>
          <a:p>
            <a:pPr marL="0" indent="0">
              <a:spcBef>
                <a:spcPts val="0"/>
              </a:spcBef>
              <a:spcAft>
                <a:spcPts val="600"/>
              </a:spcAft>
              <a:buNone/>
            </a:pPr>
            <a:br>
              <a:rPr lang="en-US" sz="4800" dirty="0">
                <a:latin typeface="+mj-lt"/>
              </a:rPr>
            </a:br>
            <a:r>
              <a:rPr lang="en-US" sz="4800" dirty="0">
                <a:latin typeface="+mj-lt"/>
              </a:rPr>
              <a:t>Please clear all text and objects on this template before designing your poster.</a:t>
            </a:r>
          </a:p>
          <a:p>
            <a:pPr>
              <a:spcAft>
                <a:spcPts val="600"/>
              </a:spcAft>
            </a:pPr>
            <a:r>
              <a:rPr lang="en-US" altLang="ko-KR" sz="4800" dirty="0">
                <a:latin typeface="+mj-lt"/>
              </a:rPr>
              <a:t>Your poster should include the following sections: Introduction, Materials &amp; Methods, Results, and Conclusion.</a:t>
            </a:r>
            <a:endParaRPr lang="en-US" sz="4800" dirty="0">
              <a:latin typeface="+mj-lt"/>
            </a:endParaRPr>
          </a:p>
          <a:p>
            <a:pPr marL="0" indent="0">
              <a:spcBef>
                <a:spcPts val="0"/>
              </a:spcBef>
              <a:spcAft>
                <a:spcPts val="600"/>
              </a:spcAft>
              <a:buNone/>
            </a:pPr>
            <a:endParaRPr lang="en-US" sz="4800" dirty="0">
              <a:latin typeface="+mj-lt"/>
            </a:endParaRPr>
          </a:p>
          <a:p>
            <a:pPr marL="0" indent="0">
              <a:spcBef>
                <a:spcPts val="0"/>
              </a:spcBef>
              <a:spcAft>
                <a:spcPts val="600"/>
              </a:spcAft>
              <a:buNone/>
            </a:pPr>
            <a:r>
              <a:rPr lang="en-AU" sz="4800" dirty="0">
                <a:latin typeface="+mj-lt"/>
              </a:rPr>
              <a:t>We recommend you use standard system fonts such as Calibri, Verdana, Times New Roman, or Arial.</a:t>
            </a:r>
          </a:p>
          <a:p>
            <a:pPr marL="0" indent="0">
              <a:spcBef>
                <a:spcPts val="0"/>
              </a:spcBef>
              <a:spcAft>
                <a:spcPts val="600"/>
              </a:spcAft>
              <a:buNone/>
            </a:pPr>
            <a:endParaRPr lang="en-AU" sz="4800" dirty="0">
              <a:latin typeface="+mj-lt"/>
            </a:endParaRPr>
          </a:p>
          <a:p>
            <a:pPr marL="0" indent="0">
              <a:spcBef>
                <a:spcPts val="0"/>
              </a:spcBef>
              <a:spcAft>
                <a:spcPts val="600"/>
              </a:spcAft>
              <a:buNone/>
            </a:pPr>
            <a:r>
              <a:rPr lang="en-AU" sz="4800" b="1" dirty="0">
                <a:latin typeface="+mj-lt"/>
              </a:rPr>
              <a:t>Recommended font sizes:</a:t>
            </a:r>
          </a:p>
          <a:p>
            <a:pPr marL="0" indent="0">
              <a:spcBef>
                <a:spcPts val="0"/>
              </a:spcBef>
              <a:spcAft>
                <a:spcPts val="600"/>
              </a:spcAft>
              <a:buNone/>
            </a:pPr>
            <a:r>
              <a:rPr lang="en-AU" sz="4800" b="1" dirty="0">
                <a:latin typeface="+mj-lt"/>
              </a:rPr>
              <a:t>48-60pt for Titles/Headings</a:t>
            </a:r>
          </a:p>
          <a:p>
            <a:pPr marL="0" indent="0">
              <a:spcBef>
                <a:spcPts val="0"/>
              </a:spcBef>
              <a:spcAft>
                <a:spcPts val="600"/>
              </a:spcAft>
              <a:buNone/>
            </a:pPr>
            <a:r>
              <a:rPr lang="en-AU" sz="4800" b="1" dirty="0">
                <a:latin typeface="+mj-lt"/>
              </a:rPr>
              <a:t>24-30pt for Text</a:t>
            </a:r>
          </a:p>
          <a:p>
            <a:pPr marL="0" indent="0">
              <a:spcBef>
                <a:spcPts val="0"/>
              </a:spcBef>
              <a:spcAft>
                <a:spcPts val="600"/>
              </a:spcAft>
              <a:buNone/>
            </a:pPr>
            <a:endParaRPr lang="en-AU" sz="4800" dirty="0">
              <a:latin typeface="+mj-lt"/>
            </a:endParaRPr>
          </a:p>
          <a:p>
            <a:pPr>
              <a:spcAft>
                <a:spcPts val="600"/>
              </a:spcAft>
            </a:pPr>
            <a:r>
              <a:rPr lang="en-US" sz="4800" dirty="0">
                <a:latin typeface="+mj-lt"/>
              </a:rPr>
              <a:t>You are limited to 1 slide within your digital poster.</a:t>
            </a:r>
          </a:p>
          <a:p>
            <a:pPr>
              <a:spcAft>
                <a:spcPts val="600"/>
              </a:spcAft>
            </a:pPr>
            <a:endParaRPr lang="en-US" sz="4800" dirty="0">
              <a:latin typeface="+mj-lt"/>
            </a:endParaRPr>
          </a:p>
          <a:p>
            <a:pPr>
              <a:spcAft>
                <a:spcPts val="600"/>
              </a:spcAft>
            </a:pPr>
            <a:r>
              <a:rPr lang="en-US" sz="4800" dirty="0">
                <a:latin typeface="+mj-lt"/>
              </a:rPr>
              <a:t>Format should be submitted in PDF only.</a:t>
            </a:r>
            <a:endParaRPr lang="en-AU" sz="4800" dirty="0">
              <a:latin typeface="+mj-lt"/>
            </a:endParaRPr>
          </a:p>
        </p:txBody>
      </p:sp>
    </p:spTree>
    <p:extLst>
      <p:ext uri="{BB962C8B-B14F-4D97-AF65-F5344CB8AC3E}">
        <p14:creationId xmlns:p14="http://schemas.microsoft.com/office/powerpoint/2010/main" val="1584889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모서리가 둥근 직사각형 34">
            <a:extLst>
              <a:ext uri="{FF2B5EF4-FFF2-40B4-BE49-F238E27FC236}">
                <a16:creationId xmlns:a16="http://schemas.microsoft.com/office/drawing/2014/main" id="{629444AB-53C8-695E-0C57-A0075C176A0F}"/>
              </a:ext>
            </a:extLst>
          </p:cNvPr>
          <p:cNvSpPr/>
          <p:nvPr/>
        </p:nvSpPr>
        <p:spPr bwMode="auto">
          <a:xfrm>
            <a:off x="229873" y="10375014"/>
            <a:ext cx="11737379" cy="29254460"/>
          </a:xfrm>
          <a:prstGeom prst="roundRect">
            <a:avLst>
              <a:gd name="adj" fmla="val 4669"/>
            </a:avLst>
          </a:prstGeom>
          <a:solidFill>
            <a:sysClr val="window" lastClr="FFFFFF">
              <a:lumMod val="95000"/>
            </a:sys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lIns="100584" tIns="50292" rIns="100584" bIns="50292"/>
          <a:lstStyle/>
          <a:p>
            <a:pPr marL="0" marR="0" lvl="0" indent="0" defTabSz="4526280" eaLnBrk="1" fontAlgn="auto" latinLnBrk="1" hangingPunct="1">
              <a:lnSpc>
                <a:spcPct val="100000"/>
              </a:lnSpc>
              <a:spcBef>
                <a:spcPts val="0"/>
              </a:spcBef>
              <a:spcAft>
                <a:spcPts val="0"/>
              </a:spcAft>
              <a:buClrTx/>
              <a:buSzTx/>
              <a:buFontTx/>
              <a:buNone/>
              <a:tabLst/>
              <a:defRPr/>
            </a:pPr>
            <a:endParaRPr kumimoji="0" lang="ko-KR" altLang="en-US" sz="89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95" name="모서리가 둥근 직사각형 34">
            <a:extLst>
              <a:ext uri="{FF2B5EF4-FFF2-40B4-BE49-F238E27FC236}">
                <a16:creationId xmlns:a16="http://schemas.microsoft.com/office/drawing/2014/main" id="{5A3C478D-1BEA-D59E-88A9-AC440F951992}"/>
              </a:ext>
            </a:extLst>
          </p:cNvPr>
          <p:cNvSpPr/>
          <p:nvPr/>
        </p:nvSpPr>
        <p:spPr bwMode="auto">
          <a:xfrm>
            <a:off x="12149930" y="10381314"/>
            <a:ext cx="11639030" cy="29410412"/>
          </a:xfrm>
          <a:prstGeom prst="roundRect">
            <a:avLst>
              <a:gd name="adj" fmla="val 4669"/>
            </a:avLst>
          </a:prstGeom>
          <a:solidFill>
            <a:sysClr val="window" lastClr="FFFFFF">
              <a:lumMod val="95000"/>
            </a:sys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lIns="100584" tIns="50292" rIns="100584" bIns="50292"/>
          <a:lstStyle/>
          <a:p>
            <a:pPr marL="0" marR="0" lvl="0" indent="0" defTabSz="4526280" eaLnBrk="1" fontAlgn="auto" latinLnBrk="1" hangingPunct="1">
              <a:lnSpc>
                <a:spcPct val="100000"/>
              </a:lnSpc>
              <a:spcBef>
                <a:spcPts val="0"/>
              </a:spcBef>
              <a:spcAft>
                <a:spcPts val="0"/>
              </a:spcAft>
              <a:buClrTx/>
              <a:buSzTx/>
              <a:buFontTx/>
              <a:buNone/>
              <a:tabLst/>
              <a:defRPr/>
            </a:pPr>
            <a:endParaRPr kumimoji="0" lang="ko-KR" altLang="en-US" sz="89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직사각형 6">
            <a:extLst>
              <a:ext uri="{FF2B5EF4-FFF2-40B4-BE49-F238E27FC236}">
                <a16:creationId xmlns:a16="http://schemas.microsoft.com/office/drawing/2014/main" id="{8C961F75-9CB4-881E-6420-971048659469}"/>
              </a:ext>
            </a:extLst>
          </p:cNvPr>
          <p:cNvSpPr/>
          <p:nvPr/>
        </p:nvSpPr>
        <p:spPr>
          <a:xfrm>
            <a:off x="0" y="4995923"/>
            <a:ext cx="24299863" cy="619721"/>
          </a:xfrm>
          <a:prstGeom prst="rect">
            <a:avLst/>
          </a:prstGeom>
        </p:spPr>
        <p:txBody>
          <a:bodyPr wrap="square" lIns="100584" tIns="50292" rIns="100584" bIns="50292">
            <a:spAutoFit/>
          </a:bodyPr>
          <a:lstStyle/>
          <a:p>
            <a:pPr algn="ctr" defTabSz="4299966">
              <a:lnSpc>
                <a:spcPct val="115000"/>
              </a:lnSpc>
            </a:pPr>
            <a:r>
              <a:rPr lang="en-US" altLang="ko-KR" sz="3200" b="1" i="1" kern="100" dirty="0">
                <a:solidFill>
                  <a:prstClr val="black"/>
                </a:solidFill>
                <a:latin typeface="Arial" panose="020B0604020202020204" pitchFamily="34" charset="0"/>
                <a:cs typeface="Arial" panose="020B0604020202020204" pitchFamily="34" charset="0"/>
              </a:rPr>
              <a:t>School of Physics, University of Bristol, UK </a:t>
            </a:r>
            <a:r>
              <a:rPr lang="en-US" altLang="ko-KR" sz="3200" b="1" i="1" kern="100" baseline="30000" dirty="0">
                <a:solidFill>
                  <a:prstClr val="black"/>
                </a:solidFill>
                <a:latin typeface="Arial" panose="020B0604020202020204" pitchFamily="34" charset="0"/>
                <a:cs typeface="Arial" panose="020B0604020202020204" pitchFamily="34" charset="0"/>
              </a:rPr>
              <a:t>1</a:t>
            </a:r>
            <a:endParaRPr lang="en-US" altLang="ko-KR" sz="3200" b="1" i="1" kern="100" dirty="0">
              <a:solidFill>
                <a:prstClr val="black"/>
              </a:solidFill>
              <a:latin typeface="Arial" panose="020B0604020202020204" pitchFamily="34" charset="0"/>
              <a:cs typeface="Arial" panose="020B0604020202020204" pitchFamily="34" charset="0"/>
            </a:endParaRPr>
          </a:p>
        </p:txBody>
      </p:sp>
      <p:sp>
        <p:nvSpPr>
          <p:cNvPr id="8" name="직사각형 7">
            <a:extLst>
              <a:ext uri="{FF2B5EF4-FFF2-40B4-BE49-F238E27FC236}">
                <a16:creationId xmlns:a16="http://schemas.microsoft.com/office/drawing/2014/main" id="{1F6DED73-3E29-6825-C0BA-D0DDC879D451}"/>
              </a:ext>
            </a:extLst>
          </p:cNvPr>
          <p:cNvSpPr/>
          <p:nvPr/>
        </p:nvSpPr>
        <p:spPr>
          <a:xfrm>
            <a:off x="3194313" y="1469923"/>
            <a:ext cx="17911235" cy="1948226"/>
          </a:xfrm>
          <a:prstGeom prst="rect">
            <a:avLst/>
          </a:prstGeom>
        </p:spPr>
        <p:txBody>
          <a:bodyPr wrap="square" lIns="100584" tIns="50292" rIns="100584" bIns="50292">
            <a:spAutoFit/>
          </a:bodyPr>
          <a:lstStyle/>
          <a:p>
            <a:pPr algn="ctr" defTabSz="4299966" latinLnBrk="1">
              <a:spcAft>
                <a:spcPts val="1100"/>
              </a:spcAft>
            </a:pPr>
            <a:r>
              <a:rPr lang="en-US" altLang="ko-KR" sz="6000" b="1" kern="0"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Gamma detection for source </a:t>
            </a:r>
            <a:r>
              <a:rPr lang="en-US" altLang="ko-KR" sz="6000" b="1" kern="0" dirty="0" err="1">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localisation</a:t>
            </a:r>
            <a:r>
              <a:rPr lang="en-US" altLang="ko-KR" sz="6000" b="1" kern="0"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in targeted alpha therapy</a:t>
            </a:r>
          </a:p>
        </p:txBody>
      </p:sp>
      <p:sp>
        <p:nvSpPr>
          <p:cNvPr id="9" name="직사각형 8">
            <a:extLst>
              <a:ext uri="{FF2B5EF4-FFF2-40B4-BE49-F238E27FC236}">
                <a16:creationId xmlns:a16="http://schemas.microsoft.com/office/drawing/2014/main" id="{37FFA317-519F-CCCB-829C-ADDDE4F65908}"/>
              </a:ext>
            </a:extLst>
          </p:cNvPr>
          <p:cNvSpPr/>
          <p:nvPr/>
        </p:nvSpPr>
        <p:spPr>
          <a:xfrm>
            <a:off x="-15525" y="3994750"/>
            <a:ext cx="24299863" cy="749244"/>
          </a:xfrm>
          <a:prstGeom prst="rect">
            <a:avLst/>
          </a:prstGeom>
        </p:spPr>
        <p:txBody>
          <a:bodyPr wrap="square" lIns="100584" tIns="50292" rIns="100584" bIns="50292">
            <a:spAutoFit/>
          </a:bodyPr>
          <a:lstStyle/>
          <a:p>
            <a:pPr algn="ctr" defTabSz="4299966" latinLnBrk="1">
              <a:lnSpc>
                <a:spcPct val="115000"/>
              </a:lnSpc>
              <a:spcAft>
                <a:spcPts val="1100"/>
              </a:spcAft>
            </a:pPr>
            <a:r>
              <a:rPr lang="en-US" altLang="ko-KR" sz="4000" b="1" kern="0" dirty="0">
                <a:solidFill>
                  <a:prstClr val="black"/>
                </a:solidFill>
                <a:latin typeface="Arial" panose="020B0604020202020204" pitchFamily="34" charset="0"/>
                <a:cs typeface="Arial" panose="020B0604020202020204" pitchFamily="34" charset="0"/>
              </a:rPr>
              <a:t>C. De Sio</a:t>
            </a:r>
            <a:r>
              <a:rPr lang="en-US" altLang="ko-KR" sz="4000" b="1" kern="0" baseline="30000" dirty="0">
                <a:solidFill>
                  <a:prstClr val="black"/>
                </a:solidFill>
                <a:latin typeface="Arial" panose="020B0604020202020204" pitchFamily="34" charset="0"/>
                <a:cs typeface="Arial" panose="020B0604020202020204" pitchFamily="34" charset="0"/>
              </a:rPr>
              <a:t>1</a:t>
            </a:r>
            <a:r>
              <a:rPr lang="en-US" altLang="ko-KR" sz="4000" b="1" kern="0" dirty="0">
                <a:solidFill>
                  <a:prstClr val="black"/>
                </a:solidFill>
                <a:latin typeface="Arial" panose="020B0604020202020204" pitchFamily="34" charset="0"/>
                <a:cs typeface="Arial" panose="020B0604020202020204" pitchFamily="34" charset="0"/>
              </a:rPr>
              <a:t>, L. Abu Sabah</a:t>
            </a:r>
            <a:r>
              <a:rPr lang="en-US" altLang="ko-KR" sz="4000" b="1" kern="0" baseline="30000" dirty="0">
                <a:solidFill>
                  <a:prstClr val="black"/>
                </a:solidFill>
                <a:latin typeface="Arial" panose="020B0604020202020204" pitchFamily="34" charset="0"/>
                <a:cs typeface="Arial" panose="020B0604020202020204" pitchFamily="34" charset="0"/>
              </a:rPr>
              <a:t>1</a:t>
            </a:r>
            <a:r>
              <a:rPr lang="en-US" altLang="ko-KR" sz="4000" b="1" kern="0" dirty="0">
                <a:solidFill>
                  <a:prstClr val="black"/>
                </a:solidFill>
                <a:latin typeface="Arial" panose="020B0604020202020204" pitchFamily="34" charset="0"/>
                <a:cs typeface="Arial" panose="020B0604020202020204" pitchFamily="34" charset="0"/>
              </a:rPr>
              <a:t>, J. Duan</a:t>
            </a:r>
            <a:r>
              <a:rPr lang="en-US" altLang="ko-KR" sz="4000" b="1" kern="0" baseline="30000" dirty="0">
                <a:solidFill>
                  <a:prstClr val="black"/>
                </a:solidFill>
                <a:latin typeface="Arial" panose="020B0604020202020204" pitchFamily="34" charset="0"/>
                <a:cs typeface="Arial" panose="020B0604020202020204" pitchFamily="34" charset="0"/>
              </a:rPr>
              <a:t>1</a:t>
            </a:r>
            <a:r>
              <a:rPr lang="en-US" altLang="ko-KR" sz="4000" b="1" kern="0" dirty="0">
                <a:solidFill>
                  <a:prstClr val="black"/>
                </a:solidFill>
                <a:latin typeface="Arial" panose="020B0604020202020204" pitchFamily="34" charset="0"/>
                <a:cs typeface="Arial" panose="020B0604020202020204" pitchFamily="34" charset="0"/>
              </a:rPr>
              <a:t>,</a:t>
            </a:r>
            <a:r>
              <a:rPr lang="en-US" altLang="ko-KR" sz="4000" b="1" kern="0" baseline="30000" dirty="0">
                <a:solidFill>
                  <a:prstClr val="black"/>
                </a:solidFill>
                <a:latin typeface="Arial" panose="020B0604020202020204" pitchFamily="34" charset="0"/>
                <a:cs typeface="Arial" panose="020B0604020202020204" pitchFamily="34" charset="0"/>
              </a:rPr>
              <a:t> </a:t>
            </a:r>
            <a:r>
              <a:rPr lang="en-US" altLang="ko-KR" sz="4000" b="1" kern="0" dirty="0">
                <a:solidFill>
                  <a:prstClr val="black"/>
                </a:solidFill>
                <a:latin typeface="Arial" panose="020B0604020202020204" pitchFamily="34" charset="0"/>
                <a:cs typeface="Arial" panose="020B0604020202020204" pitchFamily="34" charset="0"/>
              </a:rPr>
              <a:t>Y. Shi</a:t>
            </a:r>
            <a:r>
              <a:rPr lang="en-US" altLang="ko-KR" sz="4000" b="1" kern="0" baseline="30000" dirty="0">
                <a:solidFill>
                  <a:prstClr val="black"/>
                </a:solidFill>
                <a:latin typeface="Arial" panose="020B0604020202020204" pitchFamily="34" charset="0"/>
                <a:cs typeface="Arial" panose="020B0604020202020204" pitchFamily="34" charset="0"/>
              </a:rPr>
              <a:t>1</a:t>
            </a:r>
            <a:r>
              <a:rPr lang="en-US" altLang="ko-KR" sz="4000" b="1" kern="0" dirty="0">
                <a:solidFill>
                  <a:prstClr val="black"/>
                </a:solidFill>
                <a:latin typeface="Arial" panose="020B0604020202020204" pitchFamily="34" charset="0"/>
                <a:cs typeface="Arial" panose="020B0604020202020204" pitchFamily="34" charset="0"/>
              </a:rPr>
              <a:t>,</a:t>
            </a:r>
            <a:r>
              <a:rPr lang="en-US" altLang="ko-KR" sz="4000" b="1" kern="0" baseline="30000" dirty="0">
                <a:solidFill>
                  <a:prstClr val="black"/>
                </a:solidFill>
                <a:latin typeface="Arial" panose="020B0604020202020204" pitchFamily="34" charset="0"/>
                <a:cs typeface="Arial" panose="020B0604020202020204" pitchFamily="34" charset="0"/>
              </a:rPr>
              <a:t> </a:t>
            </a:r>
            <a:r>
              <a:rPr lang="en-US" altLang="ko-KR" sz="4000" b="1" kern="0" dirty="0">
                <a:solidFill>
                  <a:prstClr val="black"/>
                </a:solidFill>
                <a:latin typeface="Arial" panose="020B0604020202020204" pitchFamily="34" charset="0"/>
                <a:cs typeface="Arial" panose="020B0604020202020204" pitchFamily="34" charset="0"/>
              </a:rPr>
              <a:t>S. Williams</a:t>
            </a:r>
            <a:r>
              <a:rPr lang="en-US" altLang="ko-KR" sz="4000" b="1" kern="0" baseline="30000" dirty="0">
                <a:solidFill>
                  <a:prstClr val="black"/>
                </a:solidFill>
                <a:latin typeface="Arial" panose="020B0604020202020204" pitchFamily="34" charset="0"/>
                <a:cs typeface="Arial" panose="020B0604020202020204" pitchFamily="34" charset="0"/>
              </a:rPr>
              <a:t>1</a:t>
            </a:r>
            <a:r>
              <a:rPr lang="en-US" altLang="ko-KR" sz="4000" b="1" kern="0" dirty="0">
                <a:solidFill>
                  <a:prstClr val="black"/>
                </a:solidFill>
                <a:latin typeface="Arial" panose="020B0604020202020204" pitchFamily="34" charset="0"/>
                <a:cs typeface="Arial" panose="020B0604020202020204" pitchFamily="34" charset="0"/>
              </a:rPr>
              <a:t>,</a:t>
            </a:r>
            <a:r>
              <a:rPr lang="en-US" altLang="ko-KR" sz="4000" b="1" kern="0" baseline="30000" dirty="0">
                <a:solidFill>
                  <a:prstClr val="black"/>
                </a:solidFill>
                <a:latin typeface="Arial" panose="020B0604020202020204" pitchFamily="34" charset="0"/>
                <a:cs typeface="Arial" panose="020B0604020202020204" pitchFamily="34" charset="0"/>
              </a:rPr>
              <a:t> </a:t>
            </a:r>
            <a:r>
              <a:rPr lang="en-US" altLang="ko-KR" sz="4000" b="1" kern="0" dirty="0">
                <a:solidFill>
                  <a:prstClr val="black"/>
                </a:solidFill>
                <a:latin typeface="Arial" panose="020B0604020202020204" pitchFamily="34" charset="0"/>
                <a:cs typeface="Arial" panose="020B0604020202020204" pitchFamily="34" charset="0"/>
              </a:rPr>
              <a:t>J. Velthuis</a:t>
            </a:r>
            <a:r>
              <a:rPr lang="en-US" altLang="ko-KR" sz="4000" b="1" kern="0" baseline="30000" dirty="0">
                <a:solidFill>
                  <a:prstClr val="black"/>
                </a:solidFill>
                <a:latin typeface="Arial" panose="020B0604020202020204" pitchFamily="34" charset="0"/>
                <a:cs typeface="Arial" panose="020B0604020202020204" pitchFamily="34" charset="0"/>
              </a:rPr>
              <a:t>1</a:t>
            </a:r>
            <a:endParaRPr lang="en-US" altLang="ko-KR" sz="4000" b="1" kern="0" dirty="0">
              <a:solidFill>
                <a:prstClr val="black"/>
              </a:solidFill>
              <a:latin typeface="Arial" panose="020B0604020202020204" pitchFamily="34" charset="0"/>
              <a:cs typeface="Arial" panose="020B0604020202020204" pitchFamily="34" charset="0"/>
            </a:endParaRPr>
          </a:p>
        </p:txBody>
      </p:sp>
      <p:sp>
        <p:nvSpPr>
          <p:cNvPr id="4" name="모서리가 둥근 직사각형 34">
            <a:extLst>
              <a:ext uri="{FF2B5EF4-FFF2-40B4-BE49-F238E27FC236}">
                <a16:creationId xmlns:a16="http://schemas.microsoft.com/office/drawing/2014/main" id="{FD8A8C5C-1BC2-8204-9875-3547938673ED}"/>
              </a:ext>
            </a:extLst>
          </p:cNvPr>
          <p:cNvSpPr/>
          <p:nvPr/>
        </p:nvSpPr>
        <p:spPr bwMode="auto">
          <a:xfrm>
            <a:off x="350235" y="40611431"/>
            <a:ext cx="23599392" cy="1881975"/>
          </a:xfrm>
          <a:prstGeom prst="roundRect">
            <a:avLst>
              <a:gd name="adj" fmla="val 9267"/>
            </a:avLst>
          </a:prstGeom>
          <a:solidFill>
            <a:sysClr val="window" lastClr="FFFFFF">
              <a:lumMod val="95000"/>
            </a:sys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lIns="100584" tIns="50292" rIns="100584" bIns="50292"/>
          <a:lstStyle/>
          <a:p>
            <a:pPr marL="0" marR="0" lvl="0" indent="0" defTabSz="4526280" eaLnBrk="1" fontAlgn="auto" latinLnBrk="1" hangingPunct="1">
              <a:lnSpc>
                <a:spcPct val="100000"/>
              </a:lnSpc>
              <a:spcBef>
                <a:spcPts val="0"/>
              </a:spcBef>
              <a:spcAft>
                <a:spcPts val="0"/>
              </a:spcAft>
              <a:buClrTx/>
              <a:buSzTx/>
              <a:buFontTx/>
              <a:buNone/>
              <a:tabLst/>
              <a:defRPr/>
            </a:pPr>
            <a:endParaRPr kumimoji="0" lang="ko-KR" altLang="en-US" sz="89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 name="모서리가 둥근 직사각형 34">
            <a:extLst>
              <a:ext uri="{FF2B5EF4-FFF2-40B4-BE49-F238E27FC236}">
                <a16:creationId xmlns:a16="http://schemas.microsoft.com/office/drawing/2014/main" id="{2702ACAD-DA22-09F8-6336-92ABF9F6EC43}"/>
              </a:ext>
            </a:extLst>
          </p:cNvPr>
          <p:cNvSpPr/>
          <p:nvPr/>
        </p:nvSpPr>
        <p:spPr bwMode="auto">
          <a:xfrm>
            <a:off x="229874" y="6469138"/>
            <a:ext cx="23719753" cy="3652133"/>
          </a:xfrm>
          <a:prstGeom prst="roundRect">
            <a:avLst>
              <a:gd name="adj" fmla="val 9267"/>
            </a:avLst>
          </a:prstGeom>
          <a:solidFill>
            <a:sysClr val="window" lastClr="FFFFFF">
              <a:lumMod val="95000"/>
            </a:sys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lIns="100584" tIns="50292" rIns="100584" bIns="50292"/>
          <a:lstStyle/>
          <a:p>
            <a:pPr marL="0" marR="0" lvl="0" indent="0" defTabSz="4526280" eaLnBrk="1" fontAlgn="auto" latinLnBrk="1" hangingPunct="1">
              <a:lnSpc>
                <a:spcPct val="100000"/>
              </a:lnSpc>
              <a:spcBef>
                <a:spcPts val="0"/>
              </a:spcBef>
              <a:spcAft>
                <a:spcPts val="0"/>
              </a:spcAft>
              <a:buClrTx/>
              <a:buSzTx/>
              <a:buFontTx/>
              <a:buNone/>
              <a:tabLst/>
              <a:defRPr/>
            </a:pPr>
            <a:endParaRPr kumimoji="0" lang="ko-KR" altLang="en-US" sz="89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 name="Rectangle 6">
            <a:extLst>
              <a:ext uri="{FF2B5EF4-FFF2-40B4-BE49-F238E27FC236}">
                <a16:creationId xmlns:a16="http://schemas.microsoft.com/office/drawing/2014/main" id="{190C24CA-1B14-334F-61B4-47474B3940FF}"/>
              </a:ext>
            </a:extLst>
          </p:cNvPr>
          <p:cNvSpPr>
            <a:spLocks noChangeArrowheads="1"/>
          </p:cNvSpPr>
          <p:nvPr/>
        </p:nvSpPr>
        <p:spPr bwMode="auto">
          <a:xfrm>
            <a:off x="244799" y="5613696"/>
            <a:ext cx="4481422" cy="855443"/>
          </a:xfrm>
          <a:prstGeom prst="rect">
            <a:avLst/>
          </a:prstGeom>
          <a:noFill/>
          <a:ln>
            <a:noFill/>
          </a:ln>
          <a:effectLst/>
          <a:sp3d>
            <a:bevel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  ABSTRACT</a:t>
            </a:r>
          </a:p>
        </p:txBody>
      </p:sp>
      <p:sp>
        <p:nvSpPr>
          <p:cNvPr id="12" name="직사각형 11">
            <a:extLst>
              <a:ext uri="{FF2B5EF4-FFF2-40B4-BE49-F238E27FC236}">
                <a16:creationId xmlns:a16="http://schemas.microsoft.com/office/drawing/2014/main" id="{858EA3A6-CC85-6925-D2AF-A6353BDA3985}"/>
              </a:ext>
            </a:extLst>
          </p:cNvPr>
          <p:cNvSpPr/>
          <p:nvPr/>
        </p:nvSpPr>
        <p:spPr>
          <a:xfrm>
            <a:off x="350235" y="6656252"/>
            <a:ext cx="23348617" cy="3333220"/>
          </a:xfrm>
          <a:prstGeom prst="rect">
            <a:avLst/>
          </a:prstGeom>
        </p:spPr>
        <p:txBody>
          <a:bodyPr wrap="square" lIns="100584" tIns="50292" rIns="100584" bIns="50292">
            <a:spAutoFit/>
          </a:bodyPr>
          <a:lstStyle/>
          <a:p>
            <a:pPr algn="just" defTabSz="4299966"/>
            <a:r>
              <a:rPr lang="en-GB" sz="3000" dirty="0">
                <a:latin typeface="Arial" panose="020B0604020202020204" pitchFamily="34" charset="0"/>
                <a:cs typeface="Arial" panose="020B0604020202020204" pitchFamily="34" charset="0"/>
              </a:rPr>
              <a:t>Targeted alpha therapies deliver highly localised dose, but treatment success depends on where the radionuclide source remains after administration. We simulated an </a:t>
            </a:r>
            <a:r>
              <a:rPr lang="en-GB" sz="3000" dirty="0" err="1">
                <a:latin typeface="Arial" panose="020B0604020202020204" pitchFamily="34" charset="0"/>
                <a:cs typeface="Arial" panose="020B0604020202020204" pitchFamily="34" charset="0"/>
              </a:rPr>
              <a:t>AlphaGlue</a:t>
            </a:r>
            <a:r>
              <a:rPr lang="en-GB" sz="3000" dirty="0">
                <a:latin typeface="Arial" panose="020B0604020202020204" pitchFamily="34" charset="0"/>
                <a:cs typeface="Arial" panose="020B0604020202020204" pitchFamily="34" charset="0"/>
              </a:rPr>
              <a:t>-like geometry [1] using Geant4 [2], with a thin radioactive glue layer on a water phantom surrounded by six photon-detector panels. Retained, broadly diffused, and locally displaced source states were compared using 50 repetitions of 10,000 primary decays per configuration. Baseline-subtracted gamma-hit profiles distinguished retained, diffused, and localised source distributions. Diffusion fraction was reconstructed from residual profile features with R² = 0.9987 and mean absolute error of about 1 percentage point, while localised-source residuals identified displaced activity with mean position errors of 16-30 mm across the tested localised fractions.</a:t>
            </a:r>
            <a:endParaRPr lang="en-US" altLang="ko-KR" sz="3000" spc="-60" dirty="0">
              <a:solidFill>
                <a:srgbClr val="FF0000"/>
              </a:solidFill>
              <a:latin typeface="Arial" panose="020B0604020202020204" pitchFamily="34" charset="0"/>
              <a:cs typeface="Arial" panose="020B0604020202020204" pitchFamily="34" charset="0"/>
            </a:endParaRPr>
          </a:p>
        </p:txBody>
      </p:sp>
      <p:sp>
        <p:nvSpPr>
          <p:cNvPr id="13" name="직사각형 12">
            <a:extLst>
              <a:ext uri="{FF2B5EF4-FFF2-40B4-BE49-F238E27FC236}">
                <a16:creationId xmlns:a16="http://schemas.microsoft.com/office/drawing/2014/main" id="{7EB43C97-9AC6-C5BC-9617-212224B0C85A}"/>
              </a:ext>
            </a:extLst>
          </p:cNvPr>
          <p:cNvSpPr/>
          <p:nvPr/>
        </p:nvSpPr>
        <p:spPr>
          <a:xfrm>
            <a:off x="484060" y="40575876"/>
            <a:ext cx="23465567" cy="1948226"/>
          </a:xfrm>
          <a:prstGeom prst="rect">
            <a:avLst/>
          </a:prstGeom>
        </p:spPr>
        <p:txBody>
          <a:bodyPr wrap="square" lIns="100584" tIns="50292" rIns="100584" bIns="50292">
            <a:spAutoFit/>
          </a:bodyPr>
          <a:lstStyle/>
          <a:p>
            <a:pPr algn="just" defTabSz="4299966" latinLnBrk="1"/>
            <a:r>
              <a:rPr lang="en-US" altLang="ko-KR" sz="3000" dirty="0">
                <a:solidFill>
                  <a:prstClr val="black"/>
                </a:solidFill>
                <a:latin typeface="Arial" panose="020B0604020202020204" pitchFamily="34" charset="0"/>
                <a:cs typeface="Arial" panose="020B0604020202020204" pitchFamily="34" charset="0"/>
              </a:rPr>
              <a:t>Baseline-subtracted decay-chain gamma profiles distinguished retained, broadly diffused, and locally displaced </a:t>
            </a:r>
            <a:r>
              <a:rPr lang="en-US" altLang="ko-KR" sz="3000" dirty="0" err="1">
                <a:solidFill>
                  <a:prstClr val="black"/>
                </a:solidFill>
                <a:latin typeface="Arial" panose="020B0604020202020204" pitchFamily="34" charset="0"/>
                <a:cs typeface="Arial" panose="020B0604020202020204" pitchFamily="34" charset="0"/>
              </a:rPr>
              <a:t>AlphaGlue</a:t>
            </a:r>
            <a:r>
              <a:rPr lang="en-US" altLang="ko-KR" sz="3000" dirty="0">
                <a:solidFill>
                  <a:prstClr val="black"/>
                </a:solidFill>
                <a:latin typeface="Arial" panose="020B0604020202020204" pitchFamily="34" charset="0"/>
                <a:cs typeface="Arial" panose="020B0604020202020204" pitchFamily="34" charset="0"/>
              </a:rPr>
              <a:t> activity. Diffusion fraction was estimated with R² = 0.9987 and about 1 percentage-point mean absolute error, while </a:t>
            </a:r>
            <a:r>
              <a:rPr lang="en-US" altLang="ko-KR" sz="3000" dirty="0" err="1">
                <a:solidFill>
                  <a:prstClr val="black"/>
                </a:solidFill>
                <a:latin typeface="Arial" panose="020B0604020202020204" pitchFamily="34" charset="0"/>
                <a:cs typeface="Arial" panose="020B0604020202020204" pitchFamily="34" charset="0"/>
              </a:rPr>
              <a:t>localised</a:t>
            </a:r>
            <a:r>
              <a:rPr lang="en-US" altLang="ko-KR" sz="3000" dirty="0">
                <a:solidFill>
                  <a:prstClr val="black"/>
                </a:solidFill>
                <a:latin typeface="Arial" panose="020B0604020202020204" pitchFamily="34" charset="0"/>
                <a:cs typeface="Arial" panose="020B0604020202020204" pitchFamily="34" charset="0"/>
              </a:rPr>
              <a:t>-source residuals identified displaced activity with mean position errors of 16-30 mm. This supports gamma-based post-treatment monitoring as a route to assess source retention and redistribution after targeted alpha therapy.</a:t>
            </a:r>
            <a:endParaRPr lang="ko-KR" altLang="en-US" sz="3000" dirty="0">
              <a:solidFill>
                <a:prstClr val="black"/>
              </a:solidFill>
              <a:latin typeface="Arial" panose="020B0604020202020204" pitchFamily="34" charset="0"/>
              <a:cs typeface="Arial" panose="020B0604020202020204" pitchFamily="34" charset="0"/>
            </a:endParaRPr>
          </a:p>
        </p:txBody>
      </p:sp>
      <p:sp>
        <p:nvSpPr>
          <p:cNvPr id="14" name="Rectangle 6">
            <a:extLst>
              <a:ext uri="{FF2B5EF4-FFF2-40B4-BE49-F238E27FC236}">
                <a16:creationId xmlns:a16="http://schemas.microsoft.com/office/drawing/2014/main" id="{AF2B6E7E-A05A-0268-6E52-C15E965EE61F}"/>
              </a:ext>
            </a:extLst>
          </p:cNvPr>
          <p:cNvSpPr>
            <a:spLocks noChangeArrowheads="1"/>
          </p:cNvSpPr>
          <p:nvPr/>
        </p:nvSpPr>
        <p:spPr bwMode="auto">
          <a:xfrm>
            <a:off x="481749" y="10472717"/>
            <a:ext cx="4912115" cy="855443"/>
          </a:xfrm>
          <a:prstGeom prst="rect">
            <a:avLst/>
          </a:prstGeom>
          <a:noFill/>
          <a:ln>
            <a:noFill/>
          </a:ln>
          <a:scene3d>
            <a:camera prst="orthographicFront"/>
            <a:lightRig rig="threePt" dir="t"/>
          </a:scene3d>
          <a:sp3d>
            <a:bevel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1. Introduction</a:t>
            </a:r>
          </a:p>
        </p:txBody>
      </p:sp>
      <p:sp>
        <p:nvSpPr>
          <p:cNvPr id="15" name="Rectangle 6">
            <a:extLst>
              <a:ext uri="{FF2B5EF4-FFF2-40B4-BE49-F238E27FC236}">
                <a16:creationId xmlns:a16="http://schemas.microsoft.com/office/drawing/2014/main" id="{EDFEF0E3-6D0E-0683-AD06-16F81D8C1B25}"/>
              </a:ext>
            </a:extLst>
          </p:cNvPr>
          <p:cNvSpPr>
            <a:spLocks noChangeArrowheads="1"/>
          </p:cNvSpPr>
          <p:nvPr/>
        </p:nvSpPr>
        <p:spPr bwMode="auto">
          <a:xfrm>
            <a:off x="481749" y="14485561"/>
            <a:ext cx="7507160" cy="85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2. Materials &amp; Methods</a:t>
            </a:r>
          </a:p>
        </p:txBody>
      </p:sp>
      <p:sp>
        <p:nvSpPr>
          <p:cNvPr id="17" name="TextBox 16">
            <a:extLst>
              <a:ext uri="{FF2B5EF4-FFF2-40B4-BE49-F238E27FC236}">
                <a16:creationId xmlns:a16="http://schemas.microsoft.com/office/drawing/2014/main" id="{D8B58241-F50B-9009-C995-FF79EA4E1241}"/>
              </a:ext>
            </a:extLst>
          </p:cNvPr>
          <p:cNvSpPr txBox="1"/>
          <p:nvPr/>
        </p:nvSpPr>
        <p:spPr>
          <a:xfrm>
            <a:off x="577408" y="11406051"/>
            <a:ext cx="10977281" cy="2871555"/>
          </a:xfrm>
          <a:prstGeom prst="rect">
            <a:avLst/>
          </a:prstGeom>
          <a:noFill/>
        </p:spPr>
        <p:txBody>
          <a:bodyPr wrap="square" lIns="100584" tIns="50292" rIns="100584" bIns="50292" rtlCol="0">
            <a:spAutoFit/>
          </a:bodyPr>
          <a:lstStyle/>
          <a:p>
            <a:pPr algn="just" defTabSz="4299966"/>
            <a:r>
              <a:rPr lang="en-US" altLang="ko-KR" sz="3000" dirty="0" err="1">
                <a:solidFill>
                  <a:prstClr val="black"/>
                </a:solidFill>
                <a:latin typeface="Arial" panose="020B0604020202020204" pitchFamily="34" charset="0"/>
                <a:cs typeface="Arial" panose="020B0604020202020204" pitchFamily="34" charset="0"/>
              </a:rPr>
              <a:t>AlphaGlue</a:t>
            </a:r>
            <a:r>
              <a:rPr lang="en-US" altLang="ko-KR" sz="3000" dirty="0">
                <a:solidFill>
                  <a:prstClr val="black"/>
                </a:solidFill>
                <a:latin typeface="Arial" panose="020B0604020202020204" pitchFamily="34" charset="0"/>
                <a:cs typeface="Arial" panose="020B0604020202020204" pitchFamily="34" charset="0"/>
              </a:rPr>
              <a:t> delivery places alpha-emitting material on a </a:t>
            </a:r>
            <a:r>
              <a:rPr lang="en-US" altLang="ko-KR" sz="3000" dirty="0" err="1">
                <a:solidFill>
                  <a:prstClr val="black"/>
                </a:solidFill>
                <a:latin typeface="Arial" panose="020B0604020202020204" pitchFamily="34" charset="0"/>
                <a:cs typeface="Arial" panose="020B0604020202020204" pitchFamily="34" charset="0"/>
              </a:rPr>
              <a:t>tumour</a:t>
            </a:r>
            <a:r>
              <a:rPr lang="en-US" altLang="ko-KR" sz="3000" dirty="0">
                <a:solidFill>
                  <a:prstClr val="black"/>
                </a:solidFill>
                <a:latin typeface="Arial" panose="020B0604020202020204" pitchFamily="34" charset="0"/>
                <a:cs typeface="Arial" panose="020B0604020202020204" pitchFamily="34" charset="0"/>
              </a:rPr>
              <a:t> region in a thin glue layer. After administration, activity may remain at the intended site, diffuse into surrounding tissue, or redistribute through biological transport. This work tests whether decay-chain gamma emissions can provide a spatial monitoring signal.</a:t>
            </a:r>
            <a:endParaRPr lang="ko-KR" altLang="en-US" sz="3000" dirty="0">
              <a:solidFill>
                <a:prstClr val="black"/>
              </a:solidFill>
              <a:latin typeface="Arial" panose="020B0604020202020204" pitchFamily="34" charset="0"/>
              <a:cs typeface="Arial" panose="020B0604020202020204" pitchFamily="34" charset="0"/>
            </a:endParaRPr>
          </a:p>
        </p:txBody>
      </p:sp>
      <p:sp>
        <p:nvSpPr>
          <p:cNvPr id="20" name="직사각형 19">
            <a:extLst>
              <a:ext uri="{FF2B5EF4-FFF2-40B4-BE49-F238E27FC236}">
                <a16:creationId xmlns:a16="http://schemas.microsoft.com/office/drawing/2014/main" id="{F7677219-5FE8-D05C-77D2-00EBBE4EE1D5}"/>
              </a:ext>
            </a:extLst>
          </p:cNvPr>
          <p:cNvSpPr/>
          <p:nvPr/>
        </p:nvSpPr>
        <p:spPr>
          <a:xfrm>
            <a:off x="167355" y="42483519"/>
            <a:ext cx="23895807" cy="717119"/>
          </a:xfrm>
          <a:prstGeom prst="rect">
            <a:avLst/>
          </a:prstGeom>
        </p:spPr>
        <p:txBody>
          <a:bodyPr wrap="square" lIns="100584" tIns="50292" rIns="100584" bIns="50292">
            <a:spAutoFit/>
          </a:bodyPr>
          <a:lstStyle/>
          <a:p>
            <a:pPr algn="ctr" defTabSz="4299966" latinLnBrk="1"/>
            <a:r>
              <a:rPr lang="en-US" altLang="ko-KR" sz="4000" b="1" dirty="0">
                <a:solidFill>
                  <a:prstClr val="black"/>
                </a:solidFill>
                <a:latin typeface="Arial" panose="020B0604020202020204" pitchFamily="34" charset="0"/>
                <a:cs typeface="Arial" panose="020B0604020202020204" pitchFamily="34" charset="0"/>
              </a:rPr>
              <a:t>AOCMP 2026, Pusan, Korea </a:t>
            </a:r>
            <a:endParaRPr lang="ko-KR" altLang="en-US" sz="4000" dirty="0">
              <a:solidFill>
                <a:prstClr val="black"/>
              </a:solidFill>
              <a:latin typeface="Arial" panose="020B0604020202020204" pitchFamily="34" charset="0"/>
              <a:cs typeface="Arial" panose="020B0604020202020204" pitchFamily="34" charset="0"/>
            </a:endParaRPr>
          </a:p>
        </p:txBody>
      </p:sp>
      <p:sp>
        <p:nvSpPr>
          <p:cNvPr id="25" name="Rectangle 6">
            <a:extLst>
              <a:ext uri="{FF2B5EF4-FFF2-40B4-BE49-F238E27FC236}">
                <a16:creationId xmlns:a16="http://schemas.microsoft.com/office/drawing/2014/main" id="{D4B99D5E-31BD-8A96-EE7D-54FBB9F7EEE6}"/>
              </a:ext>
            </a:extLst>
          </p:cNvPr>
          <p:cNvSpPr>
            <a:spLocks noChangeArrowheads="1"/>
          </p:cNvSpPr>
          <p:nvPr/>
        </p:nvSpPr>
        <p:spPr bwMode="auto">
          <a:xfrm>
            <a:off x="285959" y="39798519"/>
            <a:ext cx="4620515" cy="855443"/>
          </a:xfrm>
          <a:prstGeom prst="rect">
            <a:avLst/>
          </a:prstGeom>
          <a:noFill/>
          <a:ln>
            <a:noFill/>
          </a:ln>
          <a:effectLst/>
          <a:sp3d>
            <a:bevel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CONCLUSION</a:t>
            </a:r>
          </a:p>
        </p:txBody>
      </p:sp>
      <p:sp>
        <p:nvSpPr>
          <p:cNvPr id="66" name="Rectangle 6">
            <a:extLst>
              <a:ext uri="{FF2B5EF4-FFF2-40B4-BE49-F238E27FC236}">
                <a16:creationId xmlns:a16="http://schemas.microsoft.com/office/drawing/2014/main" id="{613DC990-5AA4-8431-9B20-7B58CA90D0E4}"/>
              </a:ext>
            </a:extLst>
          </p:cNvPr>
          <p:cNvSpPr>
            <a:spLocks noChangeArrowheads="1"/>
          </p:cNvSpPr>
          <p:nvPr/>
        </p:nvSpPr>
        <p:spPr bwMode="auto">
          <a:xfrm>
            <a:off x="12362344" y="33991216"/>
            <a:ext cx="4279047" cy="85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4. Discussion</a:t>
            </a:r>
          </a:p>
        </p:txBody>
      </p:sp>
      <p:sp>
        <p:nvSpPr>
          <p:cNvPr id="3" name="TextBox 8">
            <a:extLst>
              <a:ext uri="{FF2B5EF4-FFF2-40B4-BE49-F238E27FC236}">
                <a16:creationId xmlns:a16="http://schemas.microsoft.com/office/drawing/2014/main" id="{0F93FCC0-2CEC-2027-1CEB-6AC7442DD84F}"/>
              </a:ext>
            </a:extLst>
          </p:cNvPr>
          <p:cNvSpPr txBox="1"/>
          <p:nvPr/>
        </p:nvSpPr>
        <p:spPr>
          <a:xfrm>
            <a:off x="749566" y="27267404"/>
            <a:ext cx="10632270" cy="594009"/>
          </a:xfrm>
          <a:prstGeom prst="rect">
            <a:avLst/>
          </a:prstGeom>
          <a:noFill/>
        </p:spPr>
        <p:txBody>
          <a:bodyPr wrap="none" lIns="100584" tIns="50292" rIns="100584" bIns="50292"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457200" indent="-457200">
              <a:buFont typeface="Wingdings" panose="05000000000000000000" pitchFamily="2" charset="2"/>
              <a:buChar char="l"/>
            </a:pPr>
            <a:r>
              <a:rPr lang="en-US" altLang="ko-KR" sz="3200" b="1" dirty="0">
                <a:solidFill>
                  <a:prstClr val="black"/>
                </a:solidFill>
                <a:latin typeface="Arial" panose="020B0604020202020204" pitchFamily="34" charset="0"/>
                <a:cs typeface="Arial" panose="020B0604020202020204" pitchFamily="34" charset="0"/>
              </a:rPr>
              <a:t>Baseline-subtracted profiles and diffusion estimate</a:t>
            </a:r>
            <a:endParaRPr lang="ko-KR" altLang="en-US" sz="3200" b="1" dirty="0">
              <a:solidFill>
                <a:prstClr val="black"/>
              </a:solidFill>
              <a:latin typeface="Arial" panose="020B0604020202020204" pitchFamily="34" charset="0"/>
              <a:cs typeface="Arial" panose="020B0604020202020204" pitchFamily="34" charset="0"/>
            </a:endParaRPr>
          </a:p>
        </p:txBody>
      </p:sp>
      <p:pic>
        <p:nvPicPr>
          <p:cNvPr id="68" name="Picture 67">
            <a:extLst>
              <a:ext uri="{FF2B5EF4-FFF2-40B4-BE49-F238E27FC236}">
                <a16:creationId xmlns:a16="http://schemas.microsoft.com/office/drawing/2014/main" id="{7B09B6C2-74E2-B6CB-31E1-5D45104679E6}"/>
              </a:ext>
            </a:extLst>
          </p:cNvPr>
          <p:cNvPicPr>
            <a:picLocks noChangeAspect="1"/>
          </p:cNvPicPr>
          <p:nvPr/>
        </p:nvPicPr>
        <p:blipFill>
          <a:blip r:embed="rId3"/>
          <a:srcRect l="10782" r="-1073"/>
          <a:stretch>
            <a:fillRect/>
          </a:stretch>
        </p:blipFill>
        <p:spPr>
          <a:xfrm>
            <a:off x="481749" y="21103634"/>
            <a:ext cx="5999971" cy="4668048"/>
          </a:xfrm>
          <a:prstGeom prst="rect">
            <a:avLst/>
          </a:prstGeom>
          <a:ln w="3175">
            <a:solidFill>
              <a:schemeClr val="tx1"/>
            </a:solidFill>
          </a:ln>
        </p:spPr>
      </p:pic>
      <p:sp>
        <p:nvSpPr>
          <p:cNvPr id="69" name="TextBox 8">
            <a:extLst>
              <a:ext uri="{FF2B5EF4-FFF2-40B4-BE49-F238E27FC236}">
                <a16:creationId xmlns:a16="http://schemas.microsoft.com/office/drawing/2014/main" id="{1E84B2ED-F68E-F481-0A84-240B44393809}"/>
              </a:ext>
            </a:extLst>
          </p:cNvPr>
          <p:cNvSpPr txBox="1"/>
          <p:nvPr/>
        </p:nvSpPr>
        <p:spPr>
          <a:xfrm>
            <a:off x="488200" y="15601476"/>
            <a:ext cx="11188171" cy="5179880"/>
          </a:xfrm>
          <a:prstGeom prst="rect">
            <a:avLst/>
          </a:prstGeom>
          <a:noFill/>
        </p:spPr>
        <p:txBody>
          <a:bodyPr wrap="square" lIns="100584" tIns="50292" rIns="100584" bIns="50292"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latinLnBrk="0">
              <a:buNone/>
            </a:pPr>
            <a:r>
              <a:rPr lang="en-GB" sz="3000" dirty="0">
                <a:latin typeface="Arial" panose="020B0604020202020204" pitchFamily="34" charset="0"/>
                <a:ea typeface="Arial"/>
                <a:cs typeface="Arial" panose="020B0604020202020204" pitchFamily="34" charset="0"/>
              </a:rPr>
              <a:t>A Geant4 [2] model simulated a water phantom with a thin </a:t>
            </a:r>
            <a:r>
              <a:rPr lang="en-GB" sz="3000" dirty="0" err="1">
                <a:latin typeface="Arial" panose="020B0604020202020204" pitchFamily="34" charset="0"/>
                <a:ea typeface="Arial"/>
                <a:cs typeface="Arial" panose="020B0604020202020204" pitchFamily="34" charset="0"/>
              </a:rPr>
              <a:t>AlphaGlue</a:t>
            </a:r>
            <a:r>
              <a:rPr lang="en-GB" sz="3000" dirty="0">
                <a:latin typeface="Arial" panose="020B0604020202020204" pitchFamily="34" charset="0"/>
                <a:ea typeface="Arial"/>
                <a:cs typeface="Arial" panose="020B0604020202020204" pitchFamily="34" charset="0"/>
              </a:rPr>
              <a:t> [1] source on the surface and six surrounding photon-detector panels. Each configuration used 50 independent repetitions of 10,000 primary decays, giving 500,000 decays per configuration and 3.5 million decays across all seven source states. Gamma entries into detector panels were recorded as hits and binned by panel and z position.</a:t>
            </a:r>
          </a:p>
          <a:p>
            <a:pPr algn="just" latinLnBrk="0">
              <a:buNone/>
            </a:pPr>
            <a:r>
              <a:rPr lang="en-GB" sz="3000" dirty="0">
                <a:latin typeface="Arial" panose="020B0604020202020204" pitchFamily="34" charset="0"/>
                <a:ea typeface="Arial"/>
                <a:cs typeface="Arial" panose="020B0604020202020204" pitchFamily="34" charset="0"/>
              </a:rPr>
              <a:t>Source states tested retained glue activity, 10/50/90% broad diffusion into the phantom, and 20/40/60% localised displacement to a compact region. The retained-source case defined the baseline for spatial comparisons.</a:t>
            </a:r>
          </a:p>
        </p:txBody>
      </p:sp>
      <p:graphicFrame>
        <p:nvGraphicFramePr>
          <p:cNvPr id="77" name="Table 76">
            <a:extLst>
              <a:ext uri="{FF2B5EF4-FFF2-40B4-BE49-F238E27FC236}">
                <a16:creationId xmlns:a16="http://schemas.microsoft.com/office/drawing/2014/main" id="{75E447E7-4C07-42B2-D3C4-FA05092F49DB}"/>
              </a:ext>
            </a:extLst>
          </p:cNvPr>
          <p:cNvGraphicFramePr>
            <a:graphicFrameLocks noGrp="1"/>
          </p:cNvGraphicFramePr>
          <p:nvPr>
            <p:extLst>
              <p:ext uri="{D42A27DB-BD31-4B8C-83A1-F6EECF244321}">
                <p14:modId xmlns:p14="http://schemas.microsoft.com/office/powerpoint/2010/main" val="3511040634"/>
              </p:ext>
            </p:extLst>
          </p:nvPr>
        </p:nvGraphicFramePr>
        <p:xfrm>
          <a:off x="6584913" y="22318082"/>
          <a:ext cx="5160302" cy="2595597"/>
        </p:xfrm>
        <a:graphic>
          <a:graphicData uri="http://schemas.openxmlformats.org/drawingml/2006/table">
            <a:tbl>
              <a:tblPr>
                <a:tableStyleId>{16D9F66E-5EB9-4882-86FB-DCBF35E3C3E4}</a:tableStyleId>
              </a:tblPr>
              <a:tblGrid>
                <a:gridCol w="1990473">
                  <a:extLst>
                    <a:ext uri="{9D8B030D-6E8A-4147-A177-3AD203B41FA5}">
                      <a16:colId xmlns:a16="http://schemas.microsoft.com/office/drawing/2014/main" val="2446240233"/>
                    </a:ext>
                  </a:extLst>
                </a:gridCol>
                <a:gridCol w="3169829">
                  <a:extLst>
                    <a:ext uri="{9D8B030D-6E8A-4147-A177-3AD203B41FA5}">
                      <a16:colId xmlns:a16="http://schemas.microsoft.com/office/drawing/2014/main" val="3243644834"/>
                    </a:ext>
                  </a:extLst>
                </a:gridCol>
              </a:tblGrid>
              <a:tr h="384117">
                <a:tc>
                  <a:txBody>
                    <a:bodyPr/>
                    <a:lstStyle/>
                    <a:p>
                      <a:pPr marL="0" marR="0" algn="ctr" latinLnBrk="0">
                        <a:buNone/>
                      </a:pPr>
                      <a:r>
                        <a:rPr lang="en-GB" sz="2400" b="1" dirty="0">
                          <a:effectLst/>
                        </a:rPr>
                        <a:t>CASE</a:t>
                      </a:r>
                    </a:p>
                  </a:txBody>
                  <a:tcPr marL="38100" marR="38100" marT="38100" marB="38100"/>
                </a:tc>
                <a:tc>
                  <a:txBody>
                    <a:bodyPr/>
                    <a:lstStyle/>
                    <a:p>
                      <a:pPr marL="0" marR="0" algn="ctr" latinLnBrk="0">
                        <a:buNone/>
                      </a:pPr>
                      <a:r>
                        <a:rPr lang="en-GB" sz="2400" b="1" dirty="0">
                          <a:effectLst/>
                        </a:rPr>
                        <a:t>SOURCE STATE</a:t>
                      </a:r>
                    </a:p>
                  </a:txBody>
                  <a:tcPr marL="38100" marR="38100" marT="38100" marB="38100"/>
                </a:tc>
                <a:extLst>
                  <a:ext uri="{0D108BD9-81ED-4DB2-BD59-A6C34878D82A}">
                    <a16:rowId xmlns:a16="http://schemas.microsoft.com/office/drawing/2014/main" val="3595883150"/>
                  </a:ext>
                </a:extLst>
              </a:tr>
              <a:tr h="538197">
                <a:tc>
                  <a:txBody>
                    <a:bodyPr/>
                    <a:lstStyle/>
                    <a:p>
                      <a:pPr marL="0" marR="0" algn="ctr" latinLnBrk="0">
                        <a:buNone/>
                      </a:pPr>
                      <a:r>
                        <a:rPr lang="en-GB" sz="2400" dirty="0">
                          <a:effectLst/>
                        </a:rPr>
                        <a:t>Baseline</a:t>
                      </a:r>
                    </a:p>
                  </a:txBody>
                  <a:tcPr marL="38100" marR="38100" marT="38100" marB="38100"/>
                </a:tc>
                <a:tc>
                  <a:txBody>
                    <a:bodyPr/>
                    <a:lstStyle/>
                    <a:p>
                      <a:pPr marL="0" marR="0" algn="ctr" latinLnBrk="0">
                        <a:buNone/>
                      </a:pPr>
                      <a:r>
                        <a:rPr lang="en-GB" sz="2400" dirty="0">
                          <a:effectLst/>
                        </a:rPr>
                        <a:t>100% retained in glue</a:t>
                      </a:r>
                    </a:p>
                  </a:txBody>
                  <a:tcPr marL="38100" marR="38100" marT="38100" marB="38100"/>
                </a:tc>
                <a:extLst>
                  <a:ext uri="{0D108BD9-81ED-4DB2-BD59-A6C34878D82A}">
                    <a16:rowId xmlns:a16="http://schemas.microsoft.com/office/drawing/2014/main" val="863034767"/>
                  </a:ext>
                </a:extLst>
              </a:tr>
              <a:tr h="384117">
                <a:tc>
                  <a:txBody>
                    <a:bodyPr/>
                    <a:lstStyle/>
                    <a:p>
                      <a:pPr marL="0" marR="0" algn="ctr" latinLnBrk="0">
                        <a:buNone/>
                      </a:pPr>
                      <a:r>
                        <a:rPr lang="en-GB" sz="2400" dirty="0">
                          <a:effectLst/>
                        </a:rPr>
                        <a:t>Diff10/ 50 / 90</a:t>
                      </a:r>
                    </a:p>
                  </a:txBody>
                  <a:tcPr marL="38100" marR="38100" marT="38100" marB="38100"/>
                </a:tc>
                <a:tc>
                  <a:txBody>
                    <a:bodyPr/>
                    <a:lstStyle/>
                    <a:p>
                      <a:pPr marL="0" marR="0" algn="ctr" latinLnBrk="0">
                        <a:buNone/>
                      </a:pPr>
                      <a:r>
                        <a:rPr lang="en-GB" sz="2400" dirty="0">
                          <a:effectLst/>
                        </a:rPr>
                        <a:t>10 / 50 / 90%  broadly diffused</a:t>
                      </a:r>
                    </a:p>
                  </a:txBody>
                  <a:tcPr marL="38100" marR="38100" marT="38100" marB="38100"/>
                </a:tc>
                <a:extLst>
                  <a:ext uri="{0D108BD9-81ED-4DB2-BD59-A6C34878D82A}">
                    <a16:rowId xmlns:a16="http://schemas.microsoft.com/office/drawing/2014/main" val="4015102742"/>
                  </a:ext>
                </a:extLst>
              </a:tr>
              <a:tr h="697616">
                <a:tc>
                  <a:txBody>
                    <a:bodyPr/>
                    <a:lstStyle/>
                    <a:p>
                      <a:pPr marL="0" marR="0" algn="ctr" latinLnBrk="0">
                        <a:buNone/>
                      </a:pPr>
                      <a:r>
                        <a:rPr lang="en-GB" sz="2400">
                          <a:effectLst/>
                        </a:rPr>
                        <a:t>Loc20/ 40/ 60</a:t>
                      </a:r>
                    </a:p>
                  </a:txBody>
                  <a:tcPr marL="38100" marR="38100" marT="38100" marB="38100"/>
                </a:tc>
                <a:tc>
                  <a:txBody>
                    <a:bodyPr/>
                    <a:lstStyle/>
                    <a:p>
                      <a:pPr marL="0" marR="0" algn="ctr" latinLnBrk="0">
                        <a:buNone/>
                      </a:pPr>
                      <a:r>
                        <a:rPr lang="en-GB" sz="2400" dirty="0">
                          <a:effectLst/>
                        </a:rPr>
                        <a:t>20 / 40 / 60% localised displacement</a:t>
                      </a:r>
                    </a:p>
                  </a:txBody>
                  <a:tcPr marL="38100" marR="38100" marT="38100" marB="38100"/>
                </a:tc>
                <a:extLst>
                  <a:ext uri="{0D108BD9-81ED-4DB2-BD59-A6C34878D82A}">
                    <a16:rowId xmlns:a16="http://schemas.microsoft.com/office/drawing/2014/main" val="3762230539"/>
                  </a:ext>
                </a:extLst>
              </a:tr>
            </a:tbl>
          </a:graphicData>
        </a:graphic>
      </p:graphicFrame>
      <p:sp>
        <p:nvSpPr>
          <p:cNvPr id="78" name="Rectangle 6">
            <a:extLst>
              <a:ext uri="{FF2B5EF4-FFF2-40B4-BE49-F238E27FC236}">
                <a16:creationId xmlns:a16="http://schemas.microsoft.com/office/drawing/2014/main" id="{592C2785-1320-A26B-821D-B0614E44A8C2}"/>
              </a:ext>
            </a:extLst>
          </p:cNvPr>
          <p:cNvSpPr>
            <a:spLocks noChangeArrowheads="1"/>
          </p:cNvSpPr>
          <p:nvPr/>
        </p:nvSpPr>
        <p:spPr bwMode="auto">
          <a:xfrm>
            <a:off x="481749" y="26208156"/>
            <a:ext cx="3156902" cy="85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3. Results</a:t>
            </a:r>
          </a:p>
        </p:txBody>
      </p:sp>
      <p:sp>
        <p:nvSpPr>
          <p:cNvPr id="79" name="TextBox 8">
            <a:extLst>
              <a:ext uri="{FF2B5EF4-FFF2-40B4-BE49-F238E27FC236}">
                <a16:creationId xmlns:a16="http://schemas.microsoft.com/office/drawing/2014/main" id="{914C1333-68BB-1AF3-A908-B9AE0DCA2CDF}"/>
              </a:ext>
            </a:extLst>
          </p:cNvPr>
          <p:cNvSpPr txBox="1"/>
          <p:nvPr/>
        </p:nvSpPr>
        <p:spPr>
          <a:xfrm>
            <a:off x="481749" y="28054456"/>
            <a:ext cx="11188171" cy="3333220"/>
          </a:xfrm>
          <a:prstGeom prst="rect">
            <a:avLst/>
          </a:prstGeom>
          <a:noFill/>
        </p:spPr>
        <p:txBody>
          <a:bodyPr wrap="square" lIns="100584" tIns="50292" rIns="100584" bIns="50292"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latinLnBrk="0">
              <a:buNone/>
            </a:pPr>
            <a:r>
              <a:rPr lang="en-GB" sz="3000" dirty="0">
                <a:latin typeface="Arial" panose="020B0604020202020204" pitchFamily="34" charset="0"/>
                <a:ea typeface="Arial"/>
                <a:cs typeface="Arial" panose="020B0604020202020204" pitchFamily="34" charset="0"/>
              </a:rPr>
              <a:t>Detector-position profiles were baseline-subtracted against the retained source to isolate redistribution signal. Broad diffusion widened the residual pattern; localised displacement produced a shifted excess near the displaced source (left). A regression trained on simulated diffuse cases used residual-shape features to estimate diffusion fraction, achieving R² = 0.9987 and mean absolute error about 1 percentage point (right).</a:t>
            </a:r>
          </a:p>
        </p:txBody>
      </p:sp>
      <p:sp>
        <p:nvSpPr>
          <p:cNvPr id="87" name="TextBox 86">
            <a:extLst>
              <a:ext uri="{FF2B5EF4-FFF2-40B4-BE49-F238E27FC236}">
                <a16:creationId xmlns:a16="http://schemas.microsoft.com/office/drawing/2014/main" id="{59DDF5A7-9EA5-6ED1-F49B-A8771F78BE74}"/>
              </a:ext>
            </a:extLst>
          </p:cNvPr>
          <p:cNvSpPr txBox="1"/>
          <p:nvPr/>
        </p:nvSpPr>
        <p:spPr>
          <a:xfrm>
            <a:off x="12500432" y="10647245"/>
            <a:ext cx="10406247" cy="594009"/>
          </a:xfrm>
          <a:prstGeom prst="rect">
            <a:avLst/>
          </a:prstGeom>
          <a:noFill/>
        </p:spPr>
        <p:txBody>
          <a:bodyPr wrap="none" lIns="100584" tIns="50292" rIns="100584" bIns="50292" rtlCol="0">
            <a:spAutoFit/>
          </a:bodyPr>
          <a:lstStyle/>
          <a:p>
            <a:pPr marL="457200" indent="-457200" defTabSz="4299966" latinLnBrk="1">
              <a:buFont typeface="Wingdings" panose="05000000000000000000" pitchFamily="2" charset="2"/>
              <a:buChar char="l"/>
            </a:pPr>
            <a:r>
              <a:rPr lang="en-GB" sz="3200" b="1" dirty="0">
                <a:latin typeface="Arial" panose="020B0604020202020204" pitchFamily="34" charset="0"/>
                <a:cs typeface="Arial" panose="020B0604020202020204" pitchFamily="34" charset="0"/>
              </a:rPr>
              <a:t>ROI leakage signal and localised-source residuals</a:t>
            </a:r>
          </a:p>
        </p:txBody>
      </p:sp>
      <p:sp>
        <p:nvSpPr>
          <p:cNvPr id="89" name="TextBox 8">
            <a:extLst>
              <a:ext uri="{FF2B5EF4-FFF2-40B4-BE49-F238E27FC236}">
                <a16:creationId xmlns:a16="http://schemas.microsoft.com/office/drawing/2014/main" id="{468F6185-C6EA-3284-AFFA-3E327145C7F3}"/>
              </a:ext>
            </a:extLst>
          </p:cNvPr>
          <p:cNvSpPr txBox="1"/>
          <p:nvPr/>
        </p:nvSpPr>
        <p:spPr>
          <a:xfrm>
            <a:off x="12404513" y="11386242"/>
            <a:ext cx="11263290" cy="4718215"/>
          </a:xfrm>
          <a:prstGeom prst="rect">
            <a:avLst/>
          </a:prstGeom>
          <a:noFill/>
        </p:spPr>
        <p:txBody>
          <a:bodyPr wrap="square" lIns="100584" tIns="50292" rIns="100584" bIns="50292"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latinLnBrk="0">
              <a:buNone/>
            </a:pPr>
            <a:r>
              <a:rPr lang="en-GB" sz="3000" dirty="0">
                <a:latin typeface="Arial" panose="020B0604020202020204" pitchFamily="34" charset="0"/>
                <a:ea typeface="Arial"/>
                <a:cs typeface="Arial" panose="020B0604020202020204" pitchFamily="34" charset="0"/>
              </a:rPr>
              <a:t>A displaced-region ROI was used to test for signal outside the expected retained-source region (top left). Positive excess relative to baseline indicates activity away from the glue due to source broad diffusion; negative signal (relative to baseline) is linked to localised accumulation in a displaced area (top right).</a:t>
            </a:r>
          </a:p>
          <a:p>
            <a:pPr algn="just" latinLnBrk="0">
              <a:buNone/>
            </a:pPr>
            <a:r>
              <a:rPr lang="en-GB" sz="3000" dirty="0">
                <a:latin typeface="Arial" panose="020B0604020202020204" pitchFamily="34" charset="0"/>
                <a:ea typeface="Arial"/>
                <a:cs typeface="Arial" panose="020B0604020202020204" pitchFamily="34" charset="0"/>
              </a:rPr>
              <a:t>For localised cases, positive residual in the secondary-source ROI estimated source position. Residuals are relative to the true z = 500 mm source (bottom); mean reconstructed positions were 516, 528, and 530 mm for 20%, 40%, and 60%, with uncertainty decreasing at higher fractions.</a:t>
            </a:r>
          </a:p>
        </p:txBody>
      </p:sp>
      <p:sp>
        <p:nvSpPr>
          <p:cNvPr id="93" name="TextBox 92">
            <a:extLst>
              <a:ext uri="{FF2B5EF4-FFF2-40B4-BE49-F238E27FC236}">
                <a16:creationId xmlns:a16="http://schemas.microsoft.com/office/drawing/2014/main" id="{7B99C678-7254-9655-858B-8657922450C0}"/>
              </a:ext>
            </a:extLst>
          </p:cNvPr>
          <p:cNvSpPr txBox="1"/>
          <p:nvPr/>
        </p:nvSpPr>
        <p:spPr>
          <a:xfrm>
            <a:off x="12404513" y="25048987"/>
            <a:ext cx="11263290" cy="2862322"/>
          </a:xfrm>
          <a:prstGeom prst="rect">
            <a:avLst/>
          </a:prstGeom>
          <a:noFill/>
        </p:spPr>
        <p:txBody>
          <a:bodyPr wrap="square">
            <a:spAutoFit/>
          </a:bodyPr>
          <a:lstStyle/>
          <a:p>
            <a:pPr algn="just">
              <a:buNone/>
            </a:pPr>
            <a:r>
              <a:rPr lang="en-GB" sz="3000" dirty="0">
                <a:latin typeface="Arial" panose="020B0604020202020204" pitchFamily="34" charset="0"/>
                <a:ea typeface="Arial"/>
                <a:cs typeface="Arial" panose="020B0604020202020204" pitchFamily="34" charset="0"/>
              </a:rPr>
              <a:t>Hits were accumulated in increasing windows and baseline-subtracted. Detectability required candidate-baseline separation &gt;3</a:t>
            </a:r>
            <a:r>
              <a:rPr lang="el-GR" sz="3000" dirty="0">
                <a:latin typeface="Arial" panose="020B0604020202020204" pitchFamily="34" charset="0"/>
                <a:ea typeface="Arial"/>
                <a:cs typeface="Arial" panose="020B0604020202020204" pitchFamily="34" charset="0"/>
              </a:rPr>
              <a:t>σ </a:t>
            </a:r>
            <a:r>
              <a:rPr lang="en-GB" sz="3000" dirty="0">
                <a:latin typeface="Arial" panose="020B0604020202020204" pitchFamily="34" charset="0"/>
                <a:ea typeface="Arial"/>
                <a:cs typeface="Arial" panose="020B0604020202020204" pitchFamily="34" charset="0"/>
              </a:rPr>
              <a:t>of the run-to-run baseline variation. In the 50-repetition analysis, 50-90% broad diffusion and 20-60% localised cases crossed threshold in 1-2 hours; 10% broad diffusion required about 6 hours.</a:t>
            </a:r>
          </a:p>
        </p:txBody>
      </p:sp>
      <p:sp>
        <p:nvSpPr>
          <p:cNvPr id="94" name="TextBox 93">
            <a:extLst>
              <a:ext uri="{FF2B5EF4-FFF2-40B4-BE49-F238E27FC236}">
                <a16:creationId xmlns:a16="http://schemas.microsoft.com/office/drawing/2014/main" id="{E75E186B-2019-960E-C82A-478B9AC887FA}"/>
              </a:ext>
            </a:extLst>
          </p:cNvPr>
          <p:cNvSpPr txBox="1"/>
          <p:nvPr/>
        </p:nvSpPr>
        <p:spPr>
          <a:xfrm>
            <a:off x="12362344" y="24094111"/>
            <a:ext cx="5754909" cy="594009"/>
          </a:xfrm>
          <a:prstGeom prst="rect">
            <a:avLst/>
          </a:prstGeom>
          <a:noFill/>
        </p:spPr>
        <p:txBody>
          <a:bodyPr wrap="none" lIns="100584" tIns="50292" rIns="100584" bIns="50292" rtlCol="0">
            <a:spAutoFit/>
          </a:bodyPr>
          <a:lstStyle/>
          <a:p>
            <a:pPr marL="457200" indent="-457200" defTabSz="4299966" latinLnBrk="1">
              <a:buFont typeface="Wingdings" panose="05000000000000000000" pitchFamily="2" charset="2"/>
              <a:buChar char="l"/>
            </a:pPr>
            <a:r>
              <a:rPr lang="en-GB" sz="3200" b="1" dirty="0">
                <a:latin typeface="Arial" panose="020B0604020202020204" pitchFamily="34" charset="0"/>
                <a:cs typeface="Arial" panose="020B0604020202020204" pitchFamily="34" charset="0"/>
              </a:rPr>
              <a:t>Time-window detectability</a:t>
            </a:r>
          </a:p>
        </p:txBody>
      </p:sp>
      <p:sp>
        <p:nvSpPr>
          <p:cNvPr id="96" name="TextBox 95">
            <a:extLst>
              <a:ext uri="{FF2B5EF4-FFF2-40B4-BE49-F238E27FC236}">
                <a16:creationId xmlns:a16="http://schemas.microsoft.com/office/drawing/2014/main" id="{22D6CD39-8558-06EF-2603-C10CA6C181C0}"/>
              </a:ext>
            </a:extLst>
          </p:cNvPr>
          <p:cNvSpPr txBox="1"/>
          <p:nvPr/>
        </p:nvSpPr>
        <p:spPr>
          <a:xfrm>
            <a:off x="12362344" y="35198599"/>
            <a:ext cx="11263290" cy="3785652"/>
          </a:xfrm>
          <a:prstGeom prst="rect">
            <a:avLst/>
          </a:prstGeom>
          <a:noFill/>
        </p:spPr>
        <p:txBody>
          <a:bodyPr wrap="square">
            <a:spAutoFit/>
          </a:bodyPr>
          <a:lstStyle/>
          <a:p>
            <a:pPr algn="just"/>
            <a:r>
              <a:rPr lang="en-GB" sz="3000" dirty="0">
                <a:latin typeface="Arial" panose="020B0604020202020204" pitchFamily="34" charset="0"/>
                <a:cs typeface="Arial" panose="020B0604020202020204" pitchFamily="34" charset="0"/>
              </a:rPr>
              <a:t>The total detector-entry rate changed by only about 3.8% between retained baseline and 90% broad diffusion. This small global change suggests that total counts alone are insufficient for source localisation. In contrast, baseline-subtracted spatial profiles carried stronger information: broad diffusion changed the residual shape, while localised displacement produced a position-dependent excess. Future work should include detector response, background, dead time, and patient-scale geometries.</a:t>
            </a:r>
            <a:endParaRPr lang="en-GB" sz="3000" dirty="0">
              <a:latin typeface="Arial" panose="020B0604020202020204" pitchFamily="34" charset="0"/>
              <a:ea typeface="Arial"/>
              <a:cs typeface="Arial" panose="020B0604020202020204" pitchFamily="34" charset="0"/>
            </a:endParaRPr>
          </a:p>
        </p:txBody>
      </p:sp>
      <p:sp>
        <p:nvSpPr>
          <p:cNvPr id="99" name="Rectangle 6">
            <a:extLst>
              <a:ext uri="{FF2B5EF4-FFF2-40B4-BE49-F238E27FC236}">
                <a16:creationId xmlns:a16="http://schemas.microsoft.com/office/drawing/2014/main" id="{340CE07A-EFC5-6C2A-2D10-E2919475A589}"/>
              </a:ext>
            </a:extLst>
          </p:cNvPr>
          <p:cNvSpPr>
            <a:spLocks noChangeArrowheads="1"/>
          </p:cNvSpPr>
          <p:nvPr/>
        </p:nvSpPr>
        <p:spPr bwMode="auto">
          <a:xfrm>
            <a:off x="447174" y="36604132"/>
            <a:ext cx="4279047" cy="85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5650" tIns="57825" rIns="115650" bIns="57825" anchor="ctr">
            <a:spAutoFit/>
          </a:bodyPr>
          <a:lstStyle>
            <a:lvl1pPr marL="349250" indent="-349250" defTabSz="1050925" eaLnBrk="0" hangingPunct="0">
              <a:spcBef>
                <a:spcPct val="20000"/>
              </a:spcBef>
              <a:buChar char="•"/>
              <a:defRPr kumimoji="1" sz="12700">
                <a:solidFill>
                  <a:schemeClr val="tx1"/>
                </a:solidFill>
                <a:latin typeface="굴림" pitchFamily="50" charset="-127"/>
                <a:ea typeface="굴림" pitchFamily="50" charset="-127"/>
              </a:defRPr>
            </a:lvl1pPr>
            <a:lvl2pPr marL="742950" indent="-285750" defTabSz="1050925" eaLnBrk="0" hangingPunct="0">
              <a:spcBef>
                <a:spcPct val="20000"/>
              </a:spcBef>
              <a:buChar char="–"/>
              <a:defRPr kumimoji="1" sz="10900">
                <a:solidFill>
                  <a:schemeClr val="tx1"/>
                </a:solidFill>
                <a:latin typeface="굴림" pitchFamily="50" charset="-127"/>
                <a:ea typeface="굴림" pitchFamily="50" charset="-127"/>
              </a:defRPr>
            </a:lvl2pPr>
            <a:lvl3pPr marL="1143000" indent="-228600" defTabSz="1050925" eaLnBrk="0" hangingPunct="0">
              <a:spcBef>
                <a:spcPct val="20000"/>
              </a:spcBef>
              <a:buChar char="•"/>
              <a:defRPr kumimoji="1" sz="10900">
                <a:solidFill>
                  <a:schemeClr val="tx1"/>
                </a:solidFill>
                <a:latin typeface="굴림" pitchFamily="50" charset="-127"/>
                <a:ea typeface="굴림" pitchFamily="50" charset="-127"/>
              </a:defRPr>
            </a:lvl3pPr>
            <a:lvl4pPr marL="1600200" indent="-228600" defTabSz="1050925" eaLnBrk="0" hangingPunct="0">
              <a:spcBef>
                <a:spcPct val="20000"/>
              </a:spcBef>
              <a:buChar char="–"/>
              <a:defRPr kumimoji="1" sz="10900">
                <a:solidFill>
                  <a:schemeClr val="tx1"/>
                </a:solidFill>
                <a:latin typeface="굴림" pitchFamily="50" charset="-127"/>
                <a:ea typeface="굴림" pitchFamily="50" charset="-127"/>
              </a:defRPr>
            </a:lvl4pPr>
            <a:lvl5pPr marL="2057400" indent="-228600" defTabSz="1050925" eaLnBrk="0" hangingPunct="0">
              <a:spcBef>
                <a:spcPct val="20000"/>
              </a:spcBef>
              <a:buChar char="»"/>
              <a:defRPr kumimoji="1" sz="10900">
                <a:solidFill>
                  <a:schemeClr val="tx1"/>
                </a:solidFill>
                <a:latin typeface="굴림" pitchFamily="50" charset="-127"/>
                <a:ea typeface="굴림" pitchFamily="50" charset="-127"/>
              </a:defRPr>
            </a:lvl5pPr>
            <a:lvl6pPr marL="25146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6pPr>
            <a:lvl7pPr marL="29718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7pPr>
            <a:lvl8pPr marL="34290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8pPr>
            <a:lvl9pPr marL="3886200" indent="-228600" defTabSz="1050925" eaLnBrk="0" fontAlgn="base" hangingPunct="0">
              <a:spcBef>
                <a:spcPct val="20000"/>
              </a:spcBef>
              <a:spcAft>
                <a:spcPct val="0"/>
              </a:spcAft>
              <a:buChar char="»"/>
              <a:defRPr kumimoji="1" sz="10900">
                <a:solidFill>
                  <a:schemeClr val="tx1"/>
                </a:solidFill>
                <a:latin typeface="굴림" pitchFamily="50" charset="-127"/>
                <a:ea typeface="굴림" pitchFamily="50" charset="-127"/>
              </a:defRPr>
            </a:lvl9pPr>
          </a:lstStyle>
          <a:p>
            <a:pPr eaLnBrk="1" latinLnBrk="1" hangingPunct="1">
              <a:spcBef>
                <a:spcPct val="0"/>
              </a:spcBef>
              <a:buFontTx/>
              <a:buNone/>
            </a:pPr>
            <a:r>
              <a:rPr lang="en-US" altLang="ko-KR" sz="4800" b="1" dirty="0">
                <a:solidFill>
                  <a:prstClr val="black"/>
                </a:solidFill>
                <a:latin typeface="Arial" panose="020B0604020202020204" pitchFamily="34" charset="0"/>
                <a:cs typeface="Arial" pitchFamily="34" charset="0"/>
              </a:rPr>
              <a:t>References</a:t>
            </a:r>
          </a:p>
        </p:txBody>
      </p:sp>
      <p:sp>
        <p:nvSpPr>
          <p:cNvPr id="100" name="TextBox 99">
            <a:extLst>
              <a:ext uri="{FF2B5EF4-FFF2-40B4-BE49-F238E27FC236}">
                <a16:creationId xmlns:a16="http://schemas.microsoft.com/office/drawing/2014/main" id="{4A94B4F8-57AD-12B1-AEC6-E14F779CA0A9}"/>
              </a:ext>
            </a:extLst>
          </p:cNvPr>
          <p:cNvSpPr txBox="1"/>
          <p:nvPr/>
        </p:nvSpPr>
        <p:spPr>
          <a:xfrm>
            <a:off x="434056" y="37556456"/>
            <a:ext cx="11263290" cy="1815882"/>
          </a:xfrm>
          <a:prstGeom prst="rect">
            <a:avLst/>
          </a:prstGeom>
          <a:noFill/>
        </p:spPr>
        <p:txBody>
          <a:bodyPr wrap="square">
            <a:spAutoFit/>
          </a:bodyPr>
          <a:lstStyle/>
          <a:p>
            <a:pPr algn="just"/>
            <a:r>
              <a:rPr lang="en-GB" sz="1600" dirty="0">
                <a:latin typeface="Arial" panose="020B0604020202020204" pitchFamily="34" charset="0"/>
                <a:cs typeface="Arial" panose="020B0604020202020204" pitchFamily="34" charset="0"/>
              </a:rPr>
              <a:t>[1] L. Abu Sabah et al., “</a:t>
            </a:r>
            <a:r>
              <a:rPr lang="en-GB" sz="1600" dirty="0" err="1">
                <a:latin typeface="Arial" panose="020B0604020202020204" pitchFamily="34" charset="0"/>
                <a:cs typeface="Arial" panose="020B0604020202020204" pitchFamily="34" charset="0"/>
              </a:rPr>
              <a:t>AlphaGlue</a:t>
            </a:r>
            <a:r>
              <a:rPr lang="en-GB" sz="1600" dirty="0">
                <a:latin typeface="Arial" panose="020B0604020202020204" pitchFamily="34" charset="0"/>
                <a:cs typeface="Arial" panose="020B0604020202020204" pitchFamily="34" charset="0"/>
              </a:rPr>
              <a:t>: A Novel Conceptual Delivery Method for </a:t>
            </a:r>
            <a:r>
              <a:rPr lang="el-GR" sz="1600" dirty="0">
                <a:latin typeface="Arial" panose="020B0604020202020204" pitchFamily="34" charset="0"/>
                <a:cs typeface="Arial" panose="020B0604020202020204" pitchFamily="34" charset="0"/>
              </a:rPr>
              <a:t>α </a:t>
            </a:r>
            <a:r>
              <a:rPr lang="en-GB" sz="1600" dirty="0">
                <a:latin typeface="Arial" panose="020B0604020202020204" pitchFamily="34" charset="0"/>
                <a:cs typeface="Arial" panose="020B0604020202020204" pitchFamily="34" charset="0"/>
              </a:rPr>
              <a:t>Therapy,” </a:t>
            </a:r>
            <a:r>
              <a:rPr lang="en-GB" sz="1600" dirty="0" err="1">
                <a:latin typeface="Arial" panose="020B0604020202020204" pitchFamily="34" charset="0"/>
                <a:cs typeface="Arial" panose="020B0604020202020204" pitchFamily="34" charset="0"/>
              </a:rPr>
              <a:t>BioMedInformatics</a:t>
            </a:r>
            <a:r>
              <a:rPr lang="en-GB" sz="1600" dirty="0">
                <a:latin typeface="Arial" panose="020B0604020202020204" pitchFamily="34" charset="0"/>
                <a:cs typeface="Arial" panose="020B0604020202020204" pitchFamily="34" charset="0"/>
              </a:rPr>
              <a:t> 5, 58, 2025.</a:t>
            </a:r>
          </a:p>
          <a:p>
            <a:pPr algn="just"/>
            <a:r>
              <a:rPr lang="en-GB" sz="1600" dirty="0">
                <a:latin typeface="Arial" panose="020B0604020202020204" pitchFamily="34" charset="0"/>
                <a:cs typeface="Arial" panose="020B0604020202020204" pitchFamily="34" charset="0"/>
              </a:rPr>
              <a:t>[2] S. Agostinelli et al., “Geant4—a simulation toolkit,” </a:t>
            </a:r>
            <a:r>
              <a:rPr lang="en-GB" sz="1600" dirty="0" err="1">
                <a:latin typeface="Arial" panose="020B0604020202020204" pitchFamily="34" charset="0"/>
                <a:cs typeface="Arial" panose="020B0604020202020204" pitchFamily="34" charset="0"/>
              </a:rPr>
              <a:t>Nucl</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Instrum</a:t>
            </a:r>
            <a:r>
              <a:rPr lang="en-GB" sz="1600" dirty="0">
                <a:latin typeface="Arial" panose="020B0604020202020204" pitchFamily="34" charset="0"/>
                <a:cs typeface="Arial" panose="020B0604020202020204" pitchFamily="34" charset="0"/>
              </a:rPr>
              <a:t>. Methods Phys. Res. A 506, 250–303, 2003.</a:t>
            </a:r>
          </a:p>
          <a:p>
            <a:pPr algn="just"/>
            <a:r>
              <a:rPr lang="en-GB" sz="1600" dirty="0">
                <a:latin typeface="Arial" panose="020B0604020202020204" pitchFamily="34" charset="0"/>
                <a:cs typeface="Arial" panose="020B0604020202020204" pitchFamily="34" charset="0"/>
              </a:rPr>
              <a:t>[3] L. </a:t>
            </a:r>
            <a:r>
              <a:rPr lang="en-GB" sz="1600" dirty="0" err="1">
                <a:latin typeface="Arial" panose="020B0604020202020204" pitchFamily="34" charset="0"/>
                <a:cs typeface="Arial" panose="020B0604020202020204" pitchFamily="34" charset="0"/>
              </a:rPr>
              <a:t>Ballisat</a:t>
            </a:r>
            <a:r>
              <a:rPr lang="en-GB" sz="1600" dirty="0">
                <a:latin typeface="Arial" panose="020B0604020202020204" pitchFamily="34" charset="0"/>
                <a:cs typeface="Arial" panose="020B0604020202020204" pitchFamily="34" charset="0"/>
              </a:rPr>
              <a:t> et al., “Geant4 simulation of the enhanced in-vivo 220 Rn spread in </a:t>
            </a:r>
            <a:r>
              <a:rPr lang="en-GB" sz="1600" dirty="0" err="1">
                <a:latin typeface="Arial" panose="020B0604020202020204" pitchFamily="34" charset="0"/>
                <a:cs typeface="Arial" panose="020B0604020202020204" pitchFamily="34" charset="0"/>
              </a:rPr>
              <a:t>DaRT</a:t>
            </a:r>
            <a:r>
              <a:rPr lang="en-GB" sz="1600" dirty="0">
                <a:latin typeface="Arial" panose="020B0604020202020204" pitchFamily="34" charset="0"/>
                <a:cs typeface="Arial" panose="020B0604020202020204" pitchFamily="34" charset="0"/>
              </a:rPr>
              <a:t>,” Phys. Med. 135, 105005, 2025.</a:t>
            </a:r>
          </a:p>
          <a:p>
            <a:pPr algn="just"/>
            <a:r>
              <a:rPr lang="en-GB" sz="1600" dirty="0">
                <a:latin typeface="Arial" panose="020B0604020202020204" pitchFamily="34" charset="0"/>
                <a:cs typeface="Arial" panose="020B0604020202020204" pitchFamily="34" charset="0"/>
              </a:rPr>
              <a:t>[4] G. Heger et al., “First measurements of radon-220 diﬀusion in mice </a:t>
            </a:r>
            <a:r>
              <a:rPr lang="en-GB" sz="1600" dirty="0" err="1">
                <a:latin typeface="Arial" panose="020B0604020202020204" pitchFamily="34" charset="0"/>
                <a:cs typeface="Arial" panose="020B0604020202020204" pitchFamily="34" charset="0"/>
              </a:rPr>
              <a:t>tumors</a:t>
            </a:r>
            <a:r>
              <a:rPr lang="en-GB" sz="1600" dirty="0">
                <a:latin typeface="Arial" panose="020B0604020202020204" pitchFamily="34" charset="0"/>
                <a:cs typeface="Arial" panose="020B0604020202020204" pitchFamily="34" charset="0"/>
              </a:rPr>
              <a:t>,” Med. Phys. 51, 5045–5058, 2024.</a:t>
            </a:r>
          </a:p>
          <a:p>
            <a:pPr algn="just"/>
            <a:r>
              <a:rPr lang="en-GB" sz="1600" dirty="0">
                <a:latin typeface="Arial" panose="020B0604020202020204" pitchFamily="34" charset="0"/>
                <a:cs typeface="Arial" panose="020B0604020202020204" pitchFamily="34" charset="0"/>
              </a:rPr>
              <a:t>[5] L. Arazi et al., “The treatment of solid </a:t>
            </a:r>
            <a:r>
              <a:rPr lang="en-GB" sz="1600" dirty="0" err="1">
                <a:latin typeface="Arial" panose="020B0604020202020204" pitchFamily="34" charset="0"/>
                <a:cs typeface="Arial" panose="020B0604020202020204" pitchFamily="34" charset="0"/>
              </a:rPr>
              <a:t>tumors</a:t>
            </a:r>
            <a:r>
              <a:rPr lang="en-GB" sz="1600" dirty="0">
                <a:latin typeface="Arial" panose="020B0604020202020204" pitchFamily="34" charset="0"/>
                <a:cs typeface="Arial" panose="020B0604020202020204" pitchFamily="34" charset="0"/>
              </a:rPr>
              <a:t> by alpha emitters released from 224 Ra-loaded sources,” Phys. Med. Biol. 55, 1203, 2010.</a:t>
            </a:r>
          </a:p>
          <a:p>
            <a:pPr algn="just"/>
            <a:r>
              <a:rPr lang="en-GB" sz="1600" dirty="0">
                <a:latin typeface="Arial" panose="020B0604020202020204" pitchFamily="34" charset="0"/>
                <a:cs typeface="Arial" panose="020B0604020202020204" pitchFamily="34" charset="0"/>
              </a:rPr>
              <a:t>[6] S. </a:t>
            </a:r>
            <a:r>
              <a:rPr lang="en-GB" sz="1600" dirty="0" err="1">
                <a:latin typeface="Arial" panose="020B0604020202020204" pitchFamily="34" charset="0"/>
                <a:cs typeface="Arial" panose="020B0604020202020204" pitchFamily="34" charset="0"/>
              </a:rPr>
              <a:t>Incerti</a:t>
            </a:r>
            <a:r>
              <a:rPr lang="en-GB" sz="1600" dirty="0">
                <a:latin typeface="Arial" panose="020B0604020202020204" pitchFamily="34" charset="0"/>
                <a:cs typeface="Arial" panose="020B0604020202020204" pitchFamily="34" charset="0"/>
              </a:rPr>
              <a:t> et al., “The Geant4-DNA project,” Int. J. Model. Simul. Sci. </a:t>
            </a:r>
            <a:r>
              <a:rPr lang="en-GB" sz="1600" dirty="0" err="1">
                <a:latin typeface="Arial" panose="020B0604020202020204" pitchFamily="34" charset="0"/>
                <a:cs typeface="Arial" panose="020B0604020202020204" pitchFamily="34" charset="0"/>
              </a:rPr>
              <a:t>Comput</a:t>
            </a:r>
            <a:r>
              <a:rPr lang="en-GB" sz="1600" dirty="0">
                <a:latin typeface="Arial" panose="020B0604020202020204" pitchFamily="34" charset="0"/>
                <a:cs typeface="Arial" panose="020B0604020202020204" pitchFamily="34" charset="0"/>
              </a:rPr>
              <a:t>. 1, 157–178, 2010.</a:t>
            </a:r>
          </a:p>
        </p:txBody>
      </p:sp>
      <p:pic>
        <p:nvPicPr>
          <p:cNvPr id="121" name="Picture 120">
            <a:extLst>
              <a:ext uri="{FF2B5EF4-FFF2-40B4-BE49-F238E27FC236}">
                <a16:creationId xmlns:a16="http://schemas.microsoft.com/office/drawing/2014/main" id="{CD75E24A-2DF7-A00C-72EC-3320F768AC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1860" y="16140012"/>
            <a:ext cx="11304258" cy="3979097"/>
          </a:xfrm>
          <a:prstGeom prst="rect">
            <a:avLst/>
          </a:prstGeom>
        </p:spPr>
      </p:pic>
      <p:pic>
        <p:nvPicPr>
          <p:cNvPr id="123" name="Picture 122">
            <a:extLst>
              <a:ext uri="{FF2B5EF4-FFF2-40B4-BE49-F238E27FC236}">
                <a16:creationId xmlns:a16="http://schemas.microsoft.com/office/drawing/2014/main" id="{D44FD35E-04ED-8567-3D85-2DE8019BEB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04513" y="20107248"/>
            <a:ext cx="11108542" cy="3549095"/>
          </a:xfrm>
          <a:prstGeom prst="rect">
            <a:avLst/>
          </a:prstGeom>
        </p:spPr>
      </p:pic>
      <p:pic>
        <p:nvPicPr>
          <p:cNvPr id="125" name="Picture 124">
            <a:extLst>
              <a:ext uri="{FF2B5EF4-FFF2-40B4-BE49-F238E27FC236}">
                <a16:creationId xmlns:a16="http://schemas.microsoft.com/office/drawing/2014/main" id="{DB990863-E9B4-82AF-090E-71EB4A0512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01867" y="27949930"/>
            <a:ext cx="7289800" cy="6299200"/>
          </a:xfrm>
          <a:prstGeom prst="rect">
            <a:avLst/>
          </a:prstGeom>
        </p:spPr>
      </p:pic>
      <p:pic>
        <p:nvPicPr>
          <p:cNvPr id="127" name="Picture 126">
            <a:extLst>
              <a:ext uri="{FF2B5EF4-FFF2-40B4-BE49-F238E27FC236}">
                <a16:creationId xmlns:a16="http://schemas.microsoft.com/office/drawing/2014/main" id="{7689CB2C-A386-1C35-2583-4CBE70EA1C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5959" y="31613806"/>
            <a:ext cx="5760122" cy="5029966"/>
          </a:xfrm>
          <a:prstGeom prst="rect">
            <a:avLst/>
          </a:prstGeom>
        </p:spPr>
      </p:pic>
      <p:pic>
        <p:nvPicPr>
          <p:cNvPr id="129" name="Picture 128">
            <a:extLst>
              <a:ext uri="{FF2B5EF4-FFF2-40B4-BE49-F238E27FC236}">
                <a16:creationId xmlns:a16="http://schemas.microsoft.com/office/drawing/2014/main" id="{79C87BC7-E3D1-C971-6C0F-CD3E922A64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46081" y="31629154"/>
            <a:ext cx="5760122" cy="5029966"/>
          </a:xfrm>
          <a:prstGeom prst="rect">
            <a:avLst/>
          </a:prstGeom>
        </p:spPr>
      </p:pic>
    </p:spTree>
    <p:extLst>
      <p:ext uri="{BB962C8B-B14F-4D97-AF65-F5344CB8AC3E}">
        <p14:creationId xmlns:p14="http://schemas.microsoft.com/office/powerpoint/2010/main" val="2676127826"/>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2787</TotalTime>
  <Words>1080</Words>
  <Application>Microsoft Macintosh PowerPoint</Application>
  <PresentationFormat>Custom</PresentationFormat>
  <Paragraphs>55</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Wingdings</vt:lpstr>
      <vt:lpstr>Office 테마</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라파라드_임영경</dc:creator>
  <cp:lastModifiedBy>Chiara De Sio</cp:lastModifiedBy>
  <cp:revision>34</cp:revision>
  <dcterms:created xsi:type="dcterms:W3CDTF">2026-07-27T07:58:27Z</dcterms:created>
  <dcterms:modified xsi:type="dcterms:W3CDTF">2026-08-21T09:05:09Z</dcterms:modified>
</cp:coreProperties>
</file>